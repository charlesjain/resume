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9" r:id="rId3"/>
    <p:sldId id="260" r:id="rId4"/>
    <p:sldId id="263" r:id="rId5"/>
    <p:sldId id="264" r:id="rId6"/>
    <p:sldId id="265" r:id="rId7"/>
    <p:sldId id="266" r:id="rId8"/>
    <p:sldId id="267" r:id="rId9"/>
    <p:sldId id="268" r:id="rId10"/>
    <p:sldId id="271" r:id="rId11"/>
    <p:sldId id="273" r:id="rId12"/>
    <p:sldId id="272"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1F1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02" d="100"/>
          <a:sy n="102" d="100"/>
        </p:scale>
        <p:origin x="1400" y="4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3381B-AE3A-5704-B5B7-0592F813D1C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D494AA6-E102-9000-F098-886442381E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5A80F1B-2DC4-1D6B-83FF-9664D3D50273}"/>
              </a:ext>
            </a:extLst>
          </p:cNvPr>
          <p:cNvSpPr>
            <a:spLocks noGrp="1"/>
          </p:cNvSpPr>
          <p:nvPr>
            <p:ph type="dt" sz="half" idx="10"/>
          </p:nvPr>
        </p:nvSpPr>
        <p:spPr/>
        <p:txBody>
          <a:bodyPr/>
          <a:lstStyle/>
          <a:p>
            <a:fld id="{E6CAA864-A5D6-C343-ABE2-5A195181A63A}" type="datetimeFigureOut">
              <a:rPr lang="en-US" smtClean="0"/>
              <a:t>1/19/26</a:t>
            </a:fld>
            <a:endParaRPr lang="en-US"/>
          </a:p>
        </p:txBody>
      </p:sp>
      <p:sp>
        <p:nvSpPr>
          <p:cNvPr id="5" name="Footer Placeholder 4">
            <a:extLst>
              <a:ext uri="{FF2B5EF4-FFF2-40B4-BE49-F238E27FC236}">
                <a16:creationId xmlns:a16="http://schemas.microsoft.com/office/drawing/2014/main" id="{83963D4F-4F18-5108-60BE-06A694A2AD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DFD5B7-034A-E238-E6D8-88AE3199EC88}"/>
              </a:ext>
            </a:extLst>
          </p:cNvPr>
          <p:cNvSpPr>
            <a:spLocks noGrp="1"/>
          </p:cNvSpPr>
          <p:nvPr>
            <p:ph type="sldNum" sz="quarter" idx="12"/>
          </p:nvPr>
        </p:nvSpPr>
        <p:spPr/>
        <p:txBody>
          <a:bodyPr/>
          <a:lstStyle/>
          <a:p>
            <a:fld id="{A28AE200-B550-294D-86E6-CCE8CF545ABB}" type="slidenum">
              <a:rPr lang="en-US" smtClean="0"/>
              <a:t>‹#›</a:t>
            </a:fld>
            <a:endParaRPr lang="en-US"/>
          </a:p>
        </p:txBody>
      </p:sp>
    </p:spTree>
    <p:extLst>
      <p:ext uri="{BB962C8B-B14F-4D97-AF65-F5344CB8AC3E}">
        <p14:creationId xmlns:p14="http://schemas.microsoft.com/office/powerpoint/2010/main" val="3534234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E1C03-6BA9-F8C4-BBD3-FC4F3E8589F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9D0D323-26A1-77CC-2BD9-80280BCCE41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1EB37B9-28D0-6A47-C716-7D35EAD26376}"/>
              </a:ext>
            </a:extLst>
          </p:cNvPr>
          <p:cNvSpPr>
            <a:spLocks noGrp="1"/>
          </p:cNvSpPr>
          <p:nvPr>
            <p:ph type="dt" sz="half" idx="10"/>
          </p:nvPr>
        </p:nvSpPr>
        <p:spPr/>
        <p:txBody>
          <a:bodyPr/>
          <a:lstStyle/>
          <a:p>
            <a:fld id="{E6CAA864-A5D6-C343-ABE2-5A195181A63A}" type="datetimeFigureOut">
              <a:rPr lang="en-US" smtClean="0"/>
              <a:t>1/19/26</a:t>
            </a:fld>
            <a:endParaRPr lang="en-US"/>
          </a:p>
        </p:txBody>
      </p:sp>
      <p:sp>
        <p:nvSpPr>
          <p:cNvPr id="5" name="Footer Placeholder 4">
            <a:extLst>
              <a:ext uri="{FF2B5EF4-FFF2-40B4-BE49-F238E27FC236}">
                <a16:creationId xmlns:a16="http://schemas.microsoft.com/office/drawing/2014/main" id="{F0F18D96-980C-4623-135E-A0E38BBF25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9C5558-59DE-8847-FB01-F535C3BABBFF}"/>
              </a:ext>
            </a:extLst>
          </p:cNvPr>
          <p:cNvSpPr>
            <a:spLocks noGrp="1"/>
          </p:cNvSpPr>
          <p:nvPr>
            <p:ph type="sldNum" sz="quarter" idx="12"/>
          </p:nvPr>
        </p:nvSpPr>
        <p:spPr/>
        <p:txBody>
          <a:bodyPr/>
          <a:lstStyle/>
          <a:p>
            <a:fld id="{A28AE200-B550-294D-86E6-CCE8CF545ABB}" type="slidenum">
              <a:rPr lang="en-US" smtClean="0"/>
              <a:t>‹#›</a:t>
            </a:fld>
            <a:endParaRPr lang="en-US"/>
          </a:p>
        </p:txBody>
      </p:sp>
    </p:spTree>
    <p:extLst>
      <p:ext uri="{BB962C8B-B14F-4D97-AF65-F5344CB8AC3E}">
        <p14:creationId xmlns:p14="http://schemas.microsoft.com/office/powerpoint/2010/main" val="973582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C83B9-BFED-FA18-90B7-40640BB982E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1FC61E7-01CD-3AB1-6D3A-8496D45760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7F49994-CDCA-60D2-E520-4463E51D6443}"/>
              </a:ext>
            </a:extLst>
          </p:cNvPr>
          <p:cNvSpPr>
            <a:spLocks noGrp="1"/>
          </p:cNvSpPr>
          <p:nvPr>
            <p:ph type="dt" sz="half" idx="10"/>
          </p:nvPr>
        </p:nvSpPr>
        <p:spPr/>
        <p:txBody>
          <a:bodyPr/>
          <a:lstStyle/>
          <a:p>
            <a:fld id="{E6CAA864-A5D6-C343-ABE2-5A195181A63A}" type="datetimeFigureOut">
              <a:rPr lang="en-US" smtClean="0"/>
              <a:t>1/19/26</a:t>
            </a:fld>
            <a:endParaRPr lang="en-US"/>
          </a:p>
        </p:txBody>
      </p:sp>
      <p:sp>
        <p:nvSpPr>
          <p:cNvPr id="5" name="Footer Placeholder 4">
            <a:extLst>
              <a:ext uri="{FF2B5EF4-FFF2-40B4-BE49-F238E27FC236}">
                <a16:creationId xmlns:a16="http://schemas.microsoft.com/office/drawing/2014/main" id="{9A046232-03E5-E1C8-E023-C4EFC4D448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E6AED4-DD09-34F8-23B7-DBCCC5A6DE40}"/>
              </a:ext>
            </a:extLst>
          </p:cNvPr>
          <p:cNvSpPr>
            <a:spLocks noGrp="1"/>
          </p:cNvSpPr>
          <p:nvPr>
            <p:ph type="sldNum" sz="quarter" idx="12"/>
          </p:nvPr>
        </p:nvSpPr>
        <p:spPr/>
        <p:txBody>
          <a:bodyPr/>
          <a:lstStyle/>
          <a:p>
            <a:fld id="{A28AE200-B550-294D-86E6-CCE8CF545ABB}" type="slidenum">
              <a:rPr lang="en-US" smtClean="0"/>
              <a:t>‹#›</a:t>
            </a:fld>
            <a:endParaRPr lang="en-US"/>
          </a:p>
        </p:txBody>
      </p:sp>
    </p:spTree>
    <p:extLst>
      <p:ext uri="{BB962C8B-B14F-4D97-AF65-F5344CB8AC3E}">
        <p14:creationId xmlns:p14="http://schemas.microsoft.com/office/powerpoint/2010/main" val="309889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F792A-C149-15A5-70C0-A7C99FFFE00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499B981-A70B-1009-EAC2-6BCF02282DB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59AFE1B-A475-2EA8-84D1-7916016538B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40B2569-E70E-3170-1751-7EF96D4020D7}"/>
              </a:ext>
            </a:extLst>
          </p:cNvPr>
          <p:cNvSpPr>
            <a:spLocks noGrp="1"/>
          </p:cNvSpPr>
          <p:nvPr>
            <p:ph type="dt" sz="half" idx="10"/>
          </p:nvPr>
        </p:nvSpPr>
        <p:spPr/>
        <p:txBody>
          <a:bodyPr/>
          <a:lstStyle/>
          <a:p>
            <a:fld id="{E6CAA864-A5D6-C343-ABE2-5A195181A63A}" type="datetimeFigureOut">
              <a:rPr lang="en-US" smtClean="0"/>
              <a:t>1/19/26</a:t>
            </a:fld>
            <a:endParaRPr lang="en-US"/>
          </a:p>
        </p:txBody>
      </p:sp>
      <p:sp>
        <p:nvSpPr>
          <p:cNvPr id="6" name="Footer Placeholder 5">
            <a:extLst>
              <a:ext uri="{FF2B5EF4-FFF2-40B4-BE49-F238E27FC236}">
                <a16:creationId xmlns:a16="http://schemas.microsoft.com/office/drawing/2014/main" id="{B12178F7-23B1-9CF4-1442-CAE9710103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8762A9-79B7-EA59-98D3-6062EC484782}"/>
              </a:ext>
            </a:extLst>
          </p:cNvPr>
          <p:cNvSpPr>
            <a:spLocks noGrp="1"/>
          </p:cNvSpPr>
          <p:nvPr>
            <p:ph type="sldNum" sz="quarter" idx="12"/>
          </p:nvPr>
        </p:nvSpPr>
        <p:spPr/>
        <p:txBody>
          <a:bodyPr/>
          <a:lstStyle/>
          <a:p>
            <a:fld id="{A28AE200-B550-294D-86E6-CCE8CF545ABB}" type="slidenum">
              <a:rPr lang="en-US" smtClean="0"/>
              <a:t>‹#›</a:t>
            </a:fld>
            <a:endParaRPr lang="en-US"/>
          </a:p>
        </p:txBody>
      </p:sp>
    </p:spTree>
    <p:extLst>
      <p:ext uri="{BB962C8B-B14F-4D97-AF65-F5344CB8AC3E}">
        <p14:creationId xmlns:p14="http://schemas.microsoft.com/office/powerpoint/2010/main" val="3087634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65F10-9C7E-95C9-4F1B-9BF9CB0D017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881832F-60CE-F193-5852-3D3A03BD1E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355A168-AFE3-605A-C930-DF489699723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FD75F8E-CD65-DE26-9B07-36A000FE92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E7E85AE-2B54-2C7E-395A-3B549E2AFE1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96A5027-65A5-1BA7-A5F5-6A3FCBC10C72}"/>
              </a:ext>
            </a:extLst>
          </p:cNvPr>
          <p:cNvSpPr>
            <a:spLocks noGrp="1"/>
          </p:cNvSpPr>
          <p:nvPr>
            <p:ph type="dt" sz="half" idx="10"/>
          </p:nvPr>
        </p:nvSpPr>
        <p:spPr/>
        <p:txBody>
          <a:bodyPr/>
          <a:lstStyle/>
          <a:p>
            <a:fld id="{E6CAA864-A5D6-C343-ABE2-5A195181A63A}" type="datetimeFigureOut">
              <a:rPr lang="en-US" smtClean="0"/>
              <a:t>1/19/26</a:t>
            </a:fld>
            <a:endParaRPr lang="en-US"/>
          </a:p>
        </p:txBody>
      </p:sp>
      <p:sp>
        <p:nvSpPr>
          <p:cNvPr id="8" name="Footer Placeholder 7">
            <a:extLst>
              <a:ext uri="{FF2B5EF4-FFF2-40B4-BE49-F238E27FC236}">
                <a16:creationId xmlns:a16="http://schemas.microsoft.com/office/drawing/2014/main" id="{F6C2F3A0-B9D2-6CE7-5520-170F6CF571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053AFC-1BB4-CBB1-3430-0F2CB23B501D}"/>
              </a:ext>
            </a:extLst>
          </p:cNvPr>
          <p:cNvSpPr>
            <a:spLocks noGrp="1"/>
          </p:cNvSpPr>
          <p:nvPr>
            <p:ph type="sldNum" sz="quarter" idx="12"/>
          </p:nvPr>
        </p:nvSpPr>
        <p:spPr/>
        <p:txBody>
          <a:bodyPr/>
          <a:lstStyle/>
          <a:p>
            <a:fld id="{A28AE200-B550-294D-86E6-CCE8CF545ABB}" type="slidenum">
              <a:rPr lang="en-US" smtClean="0"/>
              <a:t>‹#›</a:t>
            </a:fld>
            <a:endParaRPr lang="en-US"/>
          </a:p>
        </p:txBody>
      </p:sp>
    </p:spTree>
    <p:extLst>
      <p:ext uri="{BB962C8B-B14F-4D97-AF65-F5344CB8AC3E}">
        <p14:creationId xmlns:p14="http://schemas.microsoft.com/office/powerpoint/2010/main" val="3017831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C46E4-D63F-45A2-39E4-CAEB522D71D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7E74AD2-9E62-0629-F2F0-68ACB2640A05}"/>
              </a:ext>
            </a:extLst>
          </p:cNvPr>
          <p:cNvSpPr>
            <a:spLocks noGrp="1"/>
          </p:cNvSpPr>
          <p:nvPr>
            <p:ph type="dt" sz="half" idx="10"/>
          </p:nvPr>
        </p:nvSpPr>
        <p:spPr/>
        <p:txBody>
          <a:bodyPr/>
          <a:lstStyle/>
          <a:p>
            <a:fld id="{E6CAA864-A5D6-C343-ABE2-5A195181A63A}" type="datetimeFigureOut">
              <a:rPr lang="en-US" smtClean="0"/>
              <a:t>1/19/26</a:t>
            </a:fld>
            <a:endParaRPr lang="en-US"/>
          </a:p>
        </p:txBody>
      </p:sp>
      <p:sp>
        <p:nvSpPr>
          <p:cNvPr id="4" name="Footer Placeholder 3">
            <a:extLst>
              <a:ext uri="{FF2B5EF4-FFF2-40B4-BE49-F238E27FC236}">
                <a16:creationId xmlns:a16="http://schemas.microsoft.com/office/drawing/2014/main" id="{20776826-048C-37B0-817F-C36A6ACBC1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BC67D2-8D93-F3A6-774F-BEEC4F04D004}"/>
              </a:ext>
            </a:extLst>
          </p:cNvPr>
          <p:cNvSpPr>
            <a:spLocks noGrp="1"/>
          </p:cNvSpPr>
          <p:nvPr>
            <p:ph type="sldNum" sz="quarter" idx="12"/>
          </p:nvPr>
        </p:nvSpPr>
        <p:spPr/>
        <p:txBody>
          <a:bodyPr/>
          <a:lstStyle/>
          <a:p>
            <a:fld id="{A28AE200-B550-294D-86E6-CCE8CF545ABB}" type="slidenum">
              <a:rPr lang="en-US" smtClean="0"/>
              <a:t>‹#›</a:t>
            </a:fld>
            <a:endParaRPr lang="en-US"/>
          </a:p>
        </p:txBody>
      </p:sp>
    </p:spTree>
    <p:extLst>
      <p:ext uri="{BB962C8B-B14F-4D97-AF65-F5344CB8AC3E}">
        <p14:creationId xmlns:p14="http://schemas.microsoft.com/office/powerpoint/2010/main" val="3768837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761B1E-5FAD-3768-0D5B-806536CB95C5}"/>
              </a:ext>
            </a:extLst>
          </p:cNvPr>
          <p:cNvSpPr>
            <a:spLocks noGrp="1"/>
          </p:cNvSpPr>
          <p:nvPr>
            <p:ph type="dt" sz="half" idx="10"/>
          </p:nvPr>
        </p:nvSpPr>
        <p:spPr/>
        <p:txBody>
          <a:bodyPr/>
          <a:lstStyle/>
          <a:p>
            <a:fld id="{E6CAA864-A5D6-C343-ABE2-5A195181A63A}" type="datetimeFigureOut">
              <a:rPr lang="en-US" smtClean="0"/>
              <a:t>1/19/26</a:t>
            </a:fld>
            <a:endParaRPr lang="en-US"/>
          </a:p>
        </p:txBody>
      </p:sp>
      <p:sp>
        <p:nvSpPr>
          <p:cNvPr id="3" name="Footer Placeholder 2">
            <a:extLst>
              <a:ext uri="{FF2B5EF4-FFF2-40B4-BE49-F238E27FC236}">
                <a16:creationId xmlns:a16="http://schemas.microsoft.com/office/drawing/2014/main" id="{52096D5F-269B-31C0-B5DC-285D7ADA99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D7368D-8110-4377-497F-D3ED12038965}"/>
              </a:ext>
            </a:extLst>
          </p:cNvPr>
          <p:cNvSpPr>
            <a:spLocks noGrp="1"/>
          </p:cNvSpPr>
          <p:nvPr>
            <p:ph type="sldNum" sz="quarter" idx="12"/>
          </p:nvPr>
        </p:nvSpPr>
        <p:spPr/>
        <p:txBody>
          <a:bodyPr/>
          <a:lstStyle/>
          <a:p>
            <a:fld id="{A28AE200-B550-294D-86E6-CCE8CF545ABB}" type="slidenum">
              <a:rPr lang="en-US" smtClean="0"/>
              <a:t>‹#›</a:t>
            </a:fld>
            <a:endParaRPr lang="en-US"/>
          </a:p>
        </p:txBody>
      </p:sp>
    </p:spTree>
    <p:extLst>
      <p:ext uri="{BB962C8B-B14F-4D97-AF65-F5344CB8AC3E}">
        <p14:creationId xmlns:p14="http://schemas.microsoft.com/office/powerpoint/2010/main" val="4126910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343F2-C623-2CBB-857F-EE2D949A5BC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0183B668-EC07-AC1A-A627-F6BBC71AE2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FF54E95-C74C-514C-8E07-9EA7A67901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64E6168-D9D4-E77E-765C-409E8B991980}"/>
              </a:ext>
            </a:extLst>
          </p:cNvPr>
          <p:cNvSpPr>
            <a:spLocks noGrp="1"/>
          </p:cNvSpPr>
          <p:nvPr>
            <p:ph type="dt" sz="half" idx="10"/>
          </p:nvPr>
        </p:nvSpPr>
        <p:spPr/>
        <p:txBody>
          <a:bodyPr/>
          <a:lstStyle/>
          <a:p>
            <a:fld id="{E6CAA864-A5D6-C343-ABE2-5A195181A63A}" type="datetimeFigureOut">
              <a:rPr lang="en-US" smtClean="0"/>
              <a:t>1/19/26</a:t>
            </a:fld>
            <a:endParaRPr lang="en-US"/>
          </a:p>
        </p:txBody>
      </p:sp>
      <p:sp>
        <p:nvSpPr>
          <p:cNvPr id="6" name="Footer Placeholder 5">
            <a:extLst>
              <a:ext uri="{FF2B5EF4-FFF2-40B4-BE49-F238E27FC236}">
                <a16:creationId xmlns:a16="http://schemas.microsoft.com/office/drawing/2014/main" id="{8C3242C0-4AEB-7A68-7587-9B7B22255E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50622C-1A2A-6C2D-0CE6-67C87C70AD03}"/>
              </a:ext>
            </a:extLst>
          </p:cNvPr>
          <p:cNvSpPr>
            <a:spLocks noGrp="1"/>
          </p:cNvSpPr>
          <p:nvPr>
            <p:ph type="sldNum" sz="quarter" idx="12"/>
          </p:nvPr>
        </p:nvSpPr>
        <p:spPr/>
        <p:txBody>
          <a:bodyPr/>
          <a:lstStyle/>
          <a:p>
            <a:fld id="{A28AE200-B550-294D-86E6-CCE8CF545ABB}" type="slidenum">
              <a:rPr lang="en-US" smtClean="0"/>
              <a:t>‹#›</a:t>
            </a:fld>
            <a:endParaRPr lang="en-US"/>
          </a:p>
        </p:txBody>
      </p:sp>
    </p:spTree>
    <p:extLst>
      <p:ext uri="{BB962C8B-B14F-4D97-AF65-F5344CB8AC3E}">
        <p14:creationId xmlns:p14="http://schemas.microsoft.com/office/powerpoint/2010/main" val="120870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C6006-F189-80B2-6AA4-8BFD53395D9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2322934-8767-73AA-15DE-C88D9626E2E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DCFAF2-CD52-A214-B896-AB08069968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21605D9-35D0-D88C-D0D2-90744E1EDD5A}"/>
              </a:ext>
            </a:extLst>
          </p:cNvPr>
          <p:cNvSpPr>
            <a:spLocks noGrp="1"/>
          </p:cNvSpPr>
          <p:nvPr>
            <p:ph type="dt" sz="half" idx="10"/>
          </p:nvPr>
        </p:nvSpPr>
        <p:spPr/>
        <p:txBody>
          <a:bodyPr/>
          <a:lstStyle/>
          <a:p>
            <a:fld id="{E6CAA864-A5D6-C343-ABE2-5A195181A63A}" type="datetimeFigureOut">
              <a:rPr lang="en-US" smtClean="0"/>
              <a:t>1/19/26</a:t>
            </a:fld>
            <a:endParaRPr lang="en-US"/>
          </a:p>
        </p:txBody>
      </p:sp>
      <p:sp>
        <p:nvSpPr>
          <p:cNvPr id="6" name="Footer Placeholder 5">
            <a:extLst>
              <a:ext uri="{FF2B5EF4-FFF2-40B4-BE49-F238E27FC236}">
                <a16:creationId xmlns:a16="http://schemas.microsoft.com/office/drawing/2014/main" id="{5A91A936-E4EB-87B0-E877-42CB0FF19F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75F5E4-E3B5-36D5-CC33-27710AF02EE1}"/>
              </a:ext>
            </a:extLst>
          </p:cNvPr>
          <p:cNvSpPr>
            <a:spLocks noGrp="1"/>
          </p:cNvSpPr>
          <p:nvPr>
            <p:ph type="sldNum" sz="quarter" idx="12"/>
          </p:nvPr>
        </p:nvSpPr>
        <p:spPr/>
        <p:txBody>
          <a:bodyPr/>
          <a:lstStyle/>
          <a:p>
            <a:fld id="{A28AE200-B550-294D-86E6-CCE8CF545ABB}" type="slidenum">
              <a:rPr lang="en-US" smtClean="0"/>
              <a:t>‹#›</a:t>
            </a:fld>
            <a:endParaRPr lang="en-US"/>
          </a:p>
        </p:txBody>
      </p:sp>
    </p:spTree>
    <p:extLst>
      <p:ext uri="{BB962C8B-B14F-4D97-AF65-F5344CB8AC3E}">
        <p14:creationId xmlns:p14="http://schemas.microsoft.com/office/powerpoint/2010/main" val="30314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A0FDA-3A8B-5D31-97F9-0BB7FFAC380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223002B-E49F-1265-18DB-C755F34C3C6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1190252-B00D-5224-8729-9ED9566BDBF8}"/>
              </a:ext>
            </a:extLst>
          </p:cNvPr>
          <p:cNvSpPr>
            <a:spLocks noGrp="1"/>
          </p:cNvSpPr>
          <p:nvPr>
            <p:ph type="dt" sz="half" idx="10"/>
          </p:nvPr>
        </p:nvSpPr>
        <p:spPr/>
        <p:txBody>
          <a:bodyPr/>
          <a:lstStyle/>
          <a:p>
            <a:fld id="{E6CAA864-A5D6-C343-ABE2-5A195181A63A}" type="datetimeFigureOut">
              <a:rPr lang="en-US" smtClean="0"/>
              <a:t>1/19/26</a:t>
            </a:fld>
            <a:endParaRPr lang="en-US"/>
          </a:p>
        </p:txBody>
      </p:sp>
      <p:sp>
        <p:nvSpPr>
          <p:cNvPr id="5" name="Footer Placeholder 4">
            <a:extLst>
              <a:ext uri="{FF2B5EF4-FFF2-40B4-BE49-F238E27FC236}">
                <a16:creationId xmlns:a16="http://schemas.microsoft.com/office/drawing/2014/main" id="{93675A6B-E611-E430-C9DF-F92AFE2C0F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999BC-E894-C0B3-6692-E66D776006A5}"/>
              </a:ext>
            </a:extLst>
          </p:cNvPr>
          <p:cNvSpPr>
            <a:spLocks noGrp="1"/>
          </p:cNvSpPr>
          <p:nvPr>
            <p:ph type="sldNum" sz="quarter" idx="12"/>
          </p:nvPr>
        </p:nvSpPr>
        <p:spPr/>
        <p:txBody>
          <a:bodyPr/>
          <a:lstStyle/>
          <a:p>
            <a:fld id="{A28AE200-B550-294D-86E6-CCE8CF545ABB}" type="slidenum">
              <a:rPr lang="en-US" smtClean="0"/>
              <a:t>‹#›</a:t>
            </a:fld>
            <a:endParaRPr lang="en-US"/>
          </a:p>
        </p:txBody>
      </p:sp>
    </p:spTree>
    <p:extLst>
      <p:ext uri="{BB962C8B-B14F-4D97-AF65-F5344CB8AC3E}">
        <p14:creationId xmlns:p14="http://schemas.microsoft.com/office/powerpoint/2010/main" val="2062568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0E4E2B-4A75-C712-2597-DB73E2A2C93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E180E86-786B-9967-0A39-5A90B21E9E0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47D8E85-C26B-D685-E397-9D8F40C7AFC6}"/>
              </a:ext>
            </a:extLst>
          </p:cNvPr>
          <p:cNvSpPr>
            <a:spLocks noGrp="1"/>
          </p:cNvSpPr>
          <p:nvPr>
            <p:ph type="dt" sz="half" idx="10"/>
          </p:nvPr>
        </p:nvSpPr>
        <p:spPr/>
        <p:txBody>
          <a:bodyPr/>
          <a:lstStyle/>
          <a:p>
            <a:fld id="{E6CAA864-A5D6-C343-ABE2-5A195181A63A}" type="datetimeFigureOut">
              <a:rPr lang="en-US" smtClean="0"/>
              <a:t>1/19/26</a:t>
            </a:fld>
            <a:endParaRPr lang="en-US"/>
          </a:p>
        </p:txBody>
      </p:sp>
      <p:sp>
        <p:nvSpPr>
          <p:cNvPr id="5" name="Footer Placeholder 4">
            <a:extLst>
              <a:ext uri="{FF2B5EF4-FFF2-40B4-BE49-F238E27FC236}">
                <a16:creationId xmlns:a16="http://schemas.microsoft.com/office/drawing/2014/main" id="{81F5312E-627F-155D-740F-4A3C2A0585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CB0652-E7C9-DD94-21D2-2DB385EFBC09}"/>
              </a:ext>
            </a:extLst>
          </p:cNvPr>
          <p:cNvSpPr>
            <a:spLocks noGrp="1"/>
          </p:cNvSpPr>
          <p:nvPr>
            <p:ph type="sldNum" sz="quarter" idx="12"/>
          </p:nvPr>
        </p:nvSpPr>
        <p:spPr/>
        <p:txBody>
          <a:bodyPr/>
          <a:lstStyle/>
          <a:p>
            <a:fld id="{A28AE200-B550-294D-86E6-CCE8CF545ABB}" type="slidenum">
              <a:rPr lang="en-US" smtClean="0"/>
              <a:t>‹#›</a:t>
            </a:fld>
            <a:endParaRPr lang="en-US"/>
          </a:p>
        </p:txBody>
      </p:sp>
    </p:spTree>
    <p:extLst>
      <p:ext uri="{BB962C8B-B14F-4D97-AF65-F5344CB8AC3E}">
        <p14:creationId xmlns:p14="http://schemas.microsoft.com/office/powerpoint/2010/main" val="1159219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CD8B5C-0D7A-602A-5FCB-9F04243996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90F66EE-6073-ACF6-231B-529C5DC8AF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509AC18-159B-BDC5-3CF5-13EDD720A2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CAA864-A5D6-C343-ABE2-5A195181A63A}" type="datetimeFigureOut">
              <a:rPr lang="en-US" smtClean="0"/>
              <a:t>1/19/26</a:t>
            </a:fld>
            <a:endParaRPr lang="en-US"/>
          </a:p>
        </p:txBody>
      </p:sp>
      <p:sp>
        <p:nvSpPr>
          <p:cNvPr id="5" name="Footer Placeholder 4">
            <a:extLst>
              <a:ext uri="{FF2B5EF4-FFF2-40B4-BE49-F238E27FC236}">
                <a16:creationId xmlns:a16="http://schemas.microsoft.com/office/drawing/2014/main" id="{F1C801EA-625B-03BE-AE94-94B6949C20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24D3BF-BD0B-01BF-BC40-8807B8A92A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28AE200-B550-294D-86E6-CCE8CF545ABB}" type="slidenum">
              <a:rPr lang="en-US" smtClean="0"/>
              <a:t>‹#›</a:t>
            </a:fld>
            <a:endParaRPr lang="en-US"/>
          </a:p>
        </p:txBody>
      </p:sp>
    </p:spTree>
    <p:extLst>
      <p:ext uri="{BB962C8B-B14F-4D97-AF65-F5344CB8AC3E}">
        <p14:creationId xmlns:p14="http://schemas.microsoft.com/office/powerpoint/2010/main" val="35537436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EF3F22A-1C3B-0C88-E6BD-5DF117D7E725}"/>
              </a:ext>
            </a:extLst>
          </p:cNvPr>
          <p:cNvPicPr>
            <a:picLocks noChangeAspect="1"/>
          </p:cNvPicPr>
          <p:nvPr/>
        </p:nvPicPr>
        <p:blipFill>
          <a:blip r:embed="rId2">
            <a:alphaModFix amt="35000"/>
          </a:blip>
          <a:srcRect/>
          <a:stretch/>
        </p:blipFill>
        <p:spPr>
          <a:xfrm>
            <a:off x="1" y="139"/>
            <a:ext cx="12192250" cy="6857861"/>
          </a:xfrm>
          <a:prstGeom prst="rect">
            <a:avLst/>
          </a:prstGeom>
        </p:spPr>
      </p:pic>
      <p:pic>
        <p:nvPicPr>
          <p:cNvPr id="11" name="Picture 10" descr="A blue and green letter j&#10;&#10;AI-generated content may be incorrect.">
            <a:extLst>
              <a:ext uri="{FF2B5EF4-FFF2-40B4-BE49-F238E27FC236}">
                <a16:creationId xmlns:a16="http://schemas.microsoft.com/office/drawing/2014/main" id="{82B71A01-A18E-C645-AD07-FA67735FD107}"/>
              </a:ext>
            </a:extLst>
          </p:cNvPr>
          <p:cNvPicPr>
            <a:picLocks noChangeAspect="1"/>
          </p:cNvPicPr>
          <p:nvPr/>
        </p:nvPicPr>
        <p:blipFill>
          <a:blip r:embed="rId3"/>
          <a:stretch>
            <a:fillRect/>
          </a:stretch>
        </p:blipFill>
        <p:spPr>
          <a:xfrm>
            <a:off x="464420" y="388307"/>
            <a:ext cx="430147" cy="430147"/>
          </a:xfrm>
          <a:prstGeom prst="rect">
            <a:avLst/>
          </a:prstGeom>
        </p:spPr>
      </p:pic>
      <p:grpSp>
        <p:nvGrpSpPr>
          <p:cNvPr id="18" name="Group 17">
            <a:extLst>
              <a:ext uri="{FF2B5EF4-FFF2-40B4-BE49-F238E27FC236}">
                <a16:creationId xmlns:a16="http://schemas.microsoft.com/office/drawing/2014/main" id="{38FB4C74-94C2-939F-4C16-0F5AED8A4A20}"/>
              </a:ext>
            </a:extLst>
          </p:cNvPr>
          <p:cNvGrpSpPr/>
          <p:nvPr/>
        </p:nvGrpSpPr>
        <p:grpSpPr>
          <a:xfrm>
            <a:off x="4296426" y="1524390"/>
            <a:ext cx="5060515" cy="1904610"/>
            <a:chOff x="4296426" y="2217106"/>
            <a:chExt cx="5060515" cy="1904610"/>
          </a:xfrm>
        </p:grpSpPr>
        <p:sp>
          <p:nvSpPr>
            <p:cNvPr id="12" name="TextBox 11">
              <a:extLst>
                <a:ext uri="{FF2B5EF4-FFF2-40B4-BE49-F238E27FC236}">
                  <a16:creationId xmlns:a16="http://schemas.microsoft.com/office/drawing/2014/main" id="{CE9321FB-8F9B-592C-7D8A-EF3F28FFA95B}"/>
                </a:ext>
              </a:extLst>
            </p:cNvPr>
            <p:cNvSpPr txBox="1"/>
            <p:nvPr/>
          </p:nvSpPr>
          <p:spPr>
            <a:xfrm>
              <a:off x="4296426" y="2217106"/>
              <a:ext cx="3563796" cy="584775"/>
            </a:xfrm>
            <a:prstGeom prst="rect">
              <a:avLst/>
            </a:prstGeom>
            <a:noFill/>
          </p:spPr>
          <p:txBody>
            <a:bodyPr wrap="none" rtlCol="0">
              <a:spAutoFit/>
            </a:bodyPr>
            <a:lstStyle/>
            <a:p>
              <a:r>
                <a:rPr lang="en-IN" sz="3200" dirty="0">
                  <a:solidFill>
                    <a:srgbClr val="1F1F1F"/>
                  </a:solidFill>
                  <a:latin typeface="Source Sans Pro SemiBold" panose="020B0603030403020204" pitchFamily="34" charset="0"/>
                  <a:ea typeface="Source Sans Pro SemiBold" panose="020B0603030403020204" pitchFamily="34" charset="0"/>
                </a:rPr>
                <a:t>Charles Jayaseelan</a:t>
              </a:r>
              <a:endParaRPr lang="en-US" sz="3200" dirty="0">
                <a:solidFill>
                  <a:srgbClr val="1F1F1F"/>
                </a:solidFill>
                <a:latin typeface="Source Sans Pro SemiBold" panose="020B0603030403020204" pitchFamily="34" charset="0"/>
                <a:ea typeface="Source Sans Pro SemiBold" panose="020B0603030403020204" pitchFamily="34" charset="0"/>
              </a:endParaRPr>
            </a:p>
          </p:txBody>
        </p:sp>
        <p:sp>
          <p:nvSpPr>
            <p:cNvPr id="13" name="TextBox 12">
              <a:extLst>
                <a:ext uri="{FF2B5EF4-FFF2-40B4-BE49-F238E27FC236}">
                  <a16:creationId xmlns:a16="http://schemas.microsoft.com/office/drawing/2014/main" id="{AA1EA518-8DE3-7759-6608-EF362020D531}"/>
                </a:ext>
              </a:extLst>
            </p:cNvPr>
            <p:cNvSpPr txBox="1"/>
            <p:nvPr/>
          </p:nvSpPr>
          <p:spPr>
            <a:xfrm>
              <a:off x="4296426" y="2889563"/>
              <a:ext cx="4676280" cy="369332"/>
            </a:xfrm>
            <a:prstGeom prst="rect">
              <a:avLst/>
            </a:prstGeom>
            <a:noFill/>
          </p:spPr>
          <p:txBody>
            <a:bodyPr wrap="none" rtlCol="0">
              <a:spAutoFit/>
            </a:bodyPr>
            <a:lstStyle/>
            <a:p>
              <a:r>
                <a:rPr lang="en-IN" dirty="0">
                  <a:solidFill>
                    <a:srgbClr val="1F1F1F"/>
                  </a:solidFill>
                  <a:latin typeface="Source Sans Pro" panose="020B0603030403020204" pitchFamily="34" charset="0"/>
                  <a:ea typeface="Source Sans Pro" panose="020B0603030403020204" pitchFamily="34" charset="0"/>
                </a:rPr>
                <a:t>Senior UI Designer | Design/ Visual Design Lead</a:t>
              </a:r>
            </a:p>
          </p:txBody>
        </p:sp>
        <p:sp>
          <p:nvSpPr>
            <p:cNvPr id="14" name="TextBox 13">
              <a:extLst>
                <a:ext uri="{FF2B5EF4-FFF2-40B4-BE49-F238E27FC236}">
                  <a16:creationId xmlns:a16="http://schemas.microsoft.com/office/drawing/2014/main" id="{82726D04-D496-C4F1-42A1-01C4D3067686}"/>
                </a:ext>
              </a:extLst>
            </p:cNvPr>
            <p:cNvSpPr txBox="1"/>
            <p:nvPr/>
          </p:nvSpPr>
          <p:spPr>
            <a:xfrm>
              <a:off x="4296426" y="3598496"/>
              <a:ext cx="5060515" cy="523220"/>
            </a:xfrm>
            <a:prstGeom prst="rect">
              <a:avLst/>
            </a:prstGeom>
            <a:noFill/>
          </p:spPr>
          <p:txBody>
            <a:bodyPr wrap="square" rtlCol="0">
              <a:spAutoFit/>
            </a:bodyPr>
            <a:lstStyle/>
            <a:p>
              <a:r>
                <a:rPr lang="en-IN" sz="1400" dirty="0">
                  <a:solidFill>
                    <a:srgbClr val="1F1F1F"/>
                  </a:solidFill>
                  <a:latin typeface="Source Sans Pro" panose="020B0503030403020204" pitchFamily="34" charset="0"/>
                  <a:ea typeface="Source Sans Pro" panose="020B0503030403020204" pitchFamily="34" charset="0"/>
                </a:rPr>
                <a:t>Designing scalable digital experiences,</a:t>
              </a:r>
              <a:br>
                <a:rPr lang="en-IN" sz="1400" dirty="0">
                  <a:solidFill>
                    <a:srgbClr val="1F1F1F"/>
                  </a:solidFill>
                  <a:latin typeface="Source Sans Pro" panose="020B0503030403020204" pitchFamily="34" charset="0"/>
                  <a:ea typeface="Source Sans Pro" panose="020B0503030403020204" pitchFamily="34" charset="0"/>
                </a:rPr>
              </a:br>
              <a:r>
                <a:rPr lang="en-IN" sz="1400" dirty="0">
                  <a:solidFill>
                    <a:srgbClr val="1F1F1F"/>
                  </a:solidFill>
                  <a:latin typeface="Source Sans Pro" panose="020B0503030403020204" pitchFamily="34" charset="0"/>
                  <a:ea typeface="Source Sans Pro" panose="020B0503030403020204" pitchFamily="34" charset="0"/>
                </a:rPr>
                <a:t>leading brand consistency &amp; internal platforms.</a:t>
              </a:r>
            </a:p>
          </p:txBody>
        </p:sp>
      </p:grpSp>
      <p:sp>
        <p:nvSpPr>
          <p:cNvPr id="15" name="TextBox 14">
            <a:extLst>
              <a:ext uri="{FF2B5EF4-FFF2-40B4-BE49-F238E27FC236}">
                <a16:creationId xmlns:a16="http://schemas.microsoft.com/office/drawing/2014/main" id="{773FBA4B-10B7-A93A-371F-977699D5C60B}"/>
              </a:ext>
            </a:extLst>
          </p:cNvPr>
          <p:cNvSpPr txBox="1"/>
          <p:nvPr/>
        </p:nvSpPr>
        <p:spPr>
          <a:xfrm>
            <a:off x="4296426" y="4939744"/>
            <a:ext cx="3133037" cy="738664"/>
          </a:xfrm>
          <a:prstGeom prst="rect">
            <a:avLst/>
          </a:prstGeom>
          <a:noFill/>
        </p:spPr>
        <p:txBody>
          <a:bodyPr wrap="none" rtlCol="0">
            <a:spAutoFit/>
          </a:bodyPr>
          <a:lstStyle/>
          <a:p>
            <a:r>
              <a:rPr lang="en-IN" sz="1400" dirty="0">
                <a:solidFill>
                  <a:srgbClr val="1F1F1F"/>
                </a:solidFill>
                <a:latin typeface="Source Sans Pro" panose="020B0503030403020204" pitchFamily="34" charset="0"/>
                <a:ea typeface="Source Sans Pro" panose="020B0503030403020204" pitchFamily="34" charset="0"/>
              </a:rPr>
              <a:t>India | Open to Netherlands relocation</a:t>
            </a:r>
          </a:p>
          <a:p>
            <a:r>
              <a:rPr lang="en-IN" sz="1400" dirty="0" err="1">
                <a:solidFill>
                  <a:srgbClr val="1F1F1F"/>
                </a:solidFill>
                <a:latin typeface="Source Sans Pro" panose="020B0503030403020204" pitchFamily="34" charset="0"/>
                <a:ea typeface="Source Sans Pro" panose="020B0503030403020204" pitchFamily="34" charset="0"/>
              </a:rPr>
              <a:t>charlesja.ind@gmail.com</a:t>
            </a:r>
            <a:endParaRPr lang="en-IN" sz="1400" dirty="0">
              <a:solidFill>
                <a:srgbClr val="1F1F1F"/>
              </a:solidFill>
              <a:latin typeface="Source Sans Pro" panose="020B0503030403020204" pitchFamily="34" charset="0"/>
              <a:ea typeface="Source Sans Pro" panose="020B0503030403020204" pitchFamily="34" charset="0"/>
            </a:endParaRPr>
          </a:p>
          <a:p>
            <a:r>
              <a:rPr lang="en-IN" sz="1400" dirty="0" err="1">
                <a:solidFill>
                  <a:srgbClr val="1F1F1F"/>
                </a:solidFill>
                <a:latin typeface="Source Sans Pro" panose="020B0503030403020204" pitchFamily="34" charset="0"/>
                <a:ea typeface="Source Sans Pro" panose="020B0503030403020204" pitchFamily="34" charset="0"/>
              </a:rPr>
              <a:t>linkedin.com</a:t>
            </a:r>
            <a:r>
              <a:rPr lang="en-IN" sz="1400" dirty="0">
                <a:solidFill>
                  <a:srgbClr val="1F1F1F"/>
                </a:solidFill>
                <a:latin typeface="Source Sans Pro" panose="020B0503030403020204" pitchFamily="34" charset="0"/>
                <a:ea typeface="Source Sans Pro" panose="020B0503030403020204" pitchFamily="34" charset="0"/>
              </a:rPr>
              <a:t>/in/</a:t>
            </a:r>
            <a:r>
              <a:rPr lang="en-IN" sz="1400" dirty="0" err="1">
                <a:solidFill>
                  <a:srgbClr val="1F1F1F"/>
                </a:solidFill>
                <a:latin typeface="Source Sans Pro" panose="020B0503030403020204" pitchFamily="34" charset="0"/>
                <a:ea typeface="Source Sans Pro" panose="020B0503030403020204" pitchFamily="34" charset="0"/>
              </a:rPr>
              <a:t>charlesja</a:t>
            </a:r>
            <a:endParaRPr lang="en-IN" sz="1400" dirty="0">
              <a:solidFill>
                <a:srgbClr val="1F1F1F"/>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991332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E82E6131-C6A0-12AD-3573-88BD8423A92D}"/>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BA5EDB35-07C3-1673-7595-B5B10CC24ACB}"/>
              </a:ext>
            </a:extLst>
          </p:cNvPr>
          <p:cNvPicPr>
            <a:picLocks noChangeAspect="1"/>
          </p:cNvPicPr>
          <p:nvPr/>
        </p:nvPicPr>
        <p:blipFill>
          <a:blip r:embed="rId2">
            <a:alphaModFix amt="36000"/>
          </a:blip>
          <a:srcRect/>
          <a:stretch/>
        </p:blipFill>
        <p:spPr>
          <a:xfrm>
            <a:off x="1" y="139"/>
            <a:ext cx="12192250" cy="6857861"/>
          </a:xfrm>
          <a:prstGeom prst="rect">
            <a:avLst/>
          </a:prstGeom>
        </p:spPr>
      </p:pic>
      <p:pic>
        <p:nvPicPr>
          <p:cNvPr id="11" name="Picture 10" descr="A blue and green letter j&#10;&#10;AI-generated content may be incorrect.">
            <a:extLst>
              <a:ext uri="{FF2B5EF4-FFF2-40B4-BE49-F238E27FC236}">
                <a16:creationId xmlns:a16="http://schemas.microsoft.com/office/drawing/2014/main" id="{14E011E8-19DF-F2AB-E1CD-CF165E7168AE}"/>
              </a:ext>
            </a:extLst>
          </p:cNvPr>
          <p:cNvPicPr>
            <a:picLocks noChangeAspect="1"/>
          </p:cNvPicPr>
          <p:nvPr/>
        </p:nvPicPr>
        <p:blipFill>
          <a:blip r:embed="rId3"/>
          <a:stretch>
            <a:fillRect/>
          </a:stretch>
        </p:blipFill>
        <p:spPr>
          <a:xfrm>
            <a:off x="464420" y="388307"/>
            <a:ext cx="430147" cy="430147"/>
          </a:xfrm>
          <a:prstGeom prst="rect">
            <a:avLst/>
          </a:prstGeom>
        </p:spPr>
      </p:pic>
      <p:sp>
        <p:nvSpPr>
          <p:cNvPr id="12" name="TextBox 11">
            <a:extLst>
              <a:ext uri="{FF2B5EF4-FFF2-40B4-BE49-F238E27FC236}">
                <a16:creationId xmlns:a16="http://schemas.microsoft.com/office/drawing/2014/main" id="{D9EC6B37-7F30-5571-40D0-65B7C2239219}"/>
              </a:ext>
            </a:extLst>
          </p:cNvPr>
          <p:cNvSpPr txBox="1"/>
          <p:nvPr/>
        </p:nvSpPr>
        <p:spPr>
          <a:xfrm>
            <a:off x="4296426" y="1462087"/>
            <a:ext cx="1869423" cy="584775"/>
          </a:xfrm>
          <a:prstGeom prst="rect">
            <a:avLst/>
          </a:prstGeom>
          <a:noFill/>
        </p:spPr>
        <p:txBody>
          <a:bodyPr wrap="none" rtlCol="0">
            <a:spAutoFit/>
          </a:bodyPr>
          <a:lstStyle/>
          <a:p>
            <a:r>
              <a:rPr lang="en-IN" sz="3200" dirty="0">
                <a:solidFill>
                  <a:srgbClr val="1F1F1F"/>
                </a:solidFill>
                <a:latin typeface="Source Sans Pro SemiBold" panose="020B0603030403020204" pitchFamily="34" charset="0"/>
                <a:ea typeface="Source Sans Pro SemiBold" panose="020B0603030403020204" pitchFamily="34" charset="0"/>
              </a:rPr>
              <a:t>About Me</a:t>
            </a:r>
            <a:endParaRPr lang="en-US" sz="3200" dirty="0">
              <a:solidFill>
                <a:srgbClr val="1F1F1F"/>
              </a:solidFill>
              <a:latin typeface="Source Sans Pro SemiBold" panose="020B0603030403020204" pitchFamily="34" charset="0"/>
              <a:ea typeface="Source Sans Pro SemiBold" panose="020B0603030403020204" pitchFamily="34" charset="0"/>
            </a:endParaRPr>
          </a:p>
        </p:txBody>
      </p:sp>
      <p:sp>
        <p:nvSpPr>
          <p:cNvPr id="13" name="TextBox 12">
            <a:extLst>
              <a:ext uri="{FF2B5EF4-FFF2-40B4-BE49-F238E27FC236}">
                <a16:creationId xmlns:a16="http://schemas.microsoft.com/office/drawing/2014/main" id="{7ACCC465-819B-5695-426E-5D64B0D1627B}"/>
              </a:ext>
            </a:extLst>
          </p:cNvPr>
          <p:cNvSpPr txBox="1"/>
          <p:nvPr/>
        </p:nvSpPr>
        <p:spPr>
          <a:xfrm>
            <a:off x="4296426" y="2134544"/>
            <a:ext cx="6588692" cy="2492990"/>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en-IN" dirty="0">
                <a:latin typeface="Source Sans Pro" panose="020B0503030403020204" pitchFamily="34" charset="0"/>
                <a:ea typeface="Source Sans Pro" panose="020B0503030403020204" pitchFamily="34" charset="0"/>
              </a:rPr>
              <a:t>Senior Visual / UI Designer &amp; Design Lead with </a:t>
            </a:r>
            <a:r>
              <a:rPr lang="en-IN" b="1" dirty="0">
                <a:latin typeface="Source Sans Pro SemiBold" panose="020B0603030403020204" pitchFamily="34" charset="0"/>
                <a:ea typeface="Source Sans Pro SemiBold" panose="020B0603030403020204" pitchFamily="34" charset="0"/>
              </a:rPr>
              <a:t>18+ years </a:t>
            </a:r>
            <a:r>
              <a:rPr lang="en-IN" dirty="0">
                <a:latin typeface="Source Sans Pro" panose="020B0503030403020204" pitchFamily="34" charset="0"/>
                <a:ea typeface="Source Sans Pro" panose="020B0503030403020204" pitchFamily="34" charset="0"/>
              </a:rPr>
              <a:t>of experience</a:t>
            </a:r>
          </a:p>
          <a:p>
            <a:pPr marL="285750" indent="-285750">
              <a:spcAft>
                <a:spcPts val="1200"/>
              </a:spcAft>
              <a:buFont typeface="Arial" panose="020B0604020202020204" pitchFamily="34" charset="0"/>
              <a:buChar char="•"/>
            </a:pPr>
            <a:r>
              <a:rPr lang="en-IN" dirty="0">
                <a:latin typeface="Source Sans Pro" panose="020B0503030403020204" pitchFamily="34" charset="0"/>
                <a:ea typeface="Source Sans Pro" panose="020B0503030403020204" pitchFamily="34" charset="0"/>
              </a:rPr>
              <a:t>Strong focus on </a:t>
            </a:r>
            <a:r>
              <a:rPr lang="en-IN" b="1" dirty="0">
                <a:latin typeface="Source Sans Pro SemiBold" panose="020B0603030403020204" pitchFamily="34" charset="0"/>
                <a:ea typeface="Source Sans Pro SemiBold" panose="020B0603030403020204" pitchFamily="34" charset="0"/>
              </a:rPr>
              <a:t>digital design, brand governance, and internal platforms</a:t>
            </a:r>
          </a:p>
          <a:p>
            <a:pPr marL="285750" indent="-285750">
              <a:spcAft>
                <a:spcPts val="1200"/>
              </a:spcAft>
              <a:buFont typeface="Arial" panose="020B0604020202020204" pitchFamily="34" charset="0"/>
              <a:buChar char="•"/>
            </a:pPr>
            <a:r>
              <a:rPr lang="en-IN" dirty="0">
                <a:latin typeface="Source Sans Pro" panose="020B0503030403020204" pitchFamily="34" charset="0"/>
                <a:ea typeface="Source Sans Pro" panose="020B0503030403020204" pitchFamily="34" charset="0"/>
              </a:rPr>
              <a:t>Experienced in </a:t>
            </a:r>
            <a:r>
              <a:rPr lang="en-IN" b="1" dirty="0">
                <a:latin typeface="Source Sans Pro SemiBold" panose="020B0603030403020204" pitchFamily="34" charset="0"/>
                <a:ea typeface="Source Sans Pro SemiBold" panose="020B0603030403020204" pitchFamily="34" charset="0"/>
              </a:rPr>
              <a:t>enterprise and product-driven environments</a:t>
            </a:r>
            <a:r>
              <a:rPr lang="en-IN" dirty="0">
                <a:latin typeface="Source Sans Pro" panose="020B0503030403020204" pitchFamily="34" charset="0"/>
                <a:ea typeface="Source Sans Pro" panose="020B0503030403020204" pitchFamily="34" charset="0"/>
              </a:rPr>
              <a:t>, collaborating with global stakeholders</a:t>
            </a:r>
          </a:p>
          <a:p>
            <a:pPr marL="285750" indent="-285750">
              <a:spcAft>
                <a:spcPts val="1200"/>
              </a:spcAft>
              <a:buFont typeface="Arial" panose="020B0604020202020204" pitchFamily="34" charset="0"/>
              <a:buChar char="•"/>
            </a:pPr>
            <a:r>
              <a:rPr lang="en-IN" b="1" dirty="0">
                <a:latin typeface="Source Sans Pro SemiBold" panose="020B0603030403020204" pitchFamily="34" charset="0"/>
                <a:ea typeface="Source Sans Pro SemiBold" panose="020B0603030403020204" pitchFamily="34" charset="0"/>
              </a:rPr>
              <a:t>Available for immediate joining </a:t>
            </a:r>
            <a:r>
              <a:rPr lang="en-IN" dirty="0">
                <a:latin typeface="Source Sans Pro" panose="020B0503030403020204" pitchFamily="34" charset="0"/>
                <a:ea typeface="Source Sans Pro" panose="020B0503030403020204" pitchFamily="34" charset="0"/>
              </a:rPr>
              <a:t>and open to relocation</a:t>
            </a:r>
          </a:p>
        </p:txBody>
      </p:sp>
    </p:spTree>
    <p:extLst>
      <p:ext uri="{BB962C8B-B14F-4D97-AF65-F5344CB8AC3E}">
        <p14:creationId xmlns:p14="http://schemas.microsoft.com/office/powerpoint/2010/main" val="2440594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a:extLst>
            <a:ext uri="{FF2B5EF4-FFF2-40B4-BE49-F238E27FC236}">
              <a16:creationId xmlns:a16="http://schemas.microsoft.com/office/drawing/2014/main" id="{D2A52751-91C2-1AF4-D773-AA36B0A7A82A}"/>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D4014154-3DCD-2485-6340-B16D7AEC5A1C}"/>
              </a:ext>
            </a:extLst>
          </p:cNvPr>
          <p:cNvPicPr>
            <a:picLocks noChangeAspect="1"/>
          </p:cNvPicPr>
          <p:nvPr/>
        </p:nvPicPr>
        <p:blipFill>
          <a:blip r:embed="rId2">
            <a:alphaModFix amt="36000"/>
          </a:blip>
          <a:srcRect/>
          <a:stretch/>
        </p:blipFill>
        <p:spPr>
          <a:xfrm>
            <a:off x="1" y="139"/>
            <a:ext cx="12192250" cy="6857861"/>
          </a:xfrm>
          <a:prstGeom prst="rect">
            <a:avLst/>
          </a:prstGeom>
        </p:spPr>
      </p:pic>
      <p:pic>
        <p:nvPicPr>
          <p:cNvPr id="11" name="Picture 10" descr="A blue and green letter j&#10;&#10;AI-generated content may be incorrect.">
            <a:extLst>
              <a:ext uri="{FF2B5EF4-FFF2-40B4-BE49-F238E27FC236}">
                <a16:creationId xmlns:a16="http://schemas.microsoft.com/office/drawing/2014/main" id="{1698BD1B-CB44-A344-F7B9-D4864488F3ED}"/>
              </a:ext>
            </a:extLst>
          </p:cNvPr>
          <p:cNvPicPr>
            <a:picLocks noChangeAspect="1"/>
          </p:cNvPicPr>
          <p:nvPr/>
        </p:nvPicPr>
        <p:blipFill>
          <a:blip r:embed="rId3"/>
          <a:stretch>
            <a:fillRect/>
          </a:stretch>
        </p:blipFill>
        <p:spPr>
          <a:xfrm>
            <a:off x="464420" y="388307"/>
            <a:ext cx="430147" cy="430147"/>
          </a:xfrm>
          <a:prstGeom prst="rect">
            <a:avLst/>
          </a:prstGeom>
        </p:spPr>
      </p:pic>
      <p:sp>
        <p:nvSpPr>
          <p:cNvPr id="12" name="TextBox 11">
            <a:extLst>
              <a:ext uri="{FF2B5EF4-FFF2-40B4-BE49-F238E27FC236}">
                <a16:creationId xmlns:a16="http://schemas.microsoft.com/office/drawing/2014/main" id="{0EBB550E-F1DF-2191-C09A-2AA96E000AF5}"/>
              </a:ext>
            </a:extLst>
          </p:cNvPr>
          <p:cNvSpPr txBox="1"/>
          <p:nvPr/>
        </p:nvSpPr>
        <p:spPr>
          <a:xfrm>
            <a:off x="4296426" y="1462087"/>
            <a:ext cx="1863011" cy="584775"/>
          </a:xfrm>
          <a:prstGeom prst="rect">
            <a:avLst/>
          </a:prstGeom>
          <a:noFill/>
        </p:spPr>
        <p:txBody>
          <a:bodyPr wrap="none" rtlCol="0">
            <a:spAutoFit/>
          </a:bodyPr>
          <a:lstStyle/>
          <a:p>
            <a:r>
              <a:rPr lang="en-IN" sz="3200" dirty="0">
                <a:solidFill>
                  <a:srgbClr val="1F1F1F"/>
                </a:solidFill>
                <a:latin typeface="Source Sans Pro SemiBold" panose="020B0603030403020204" pitchFamily="34" charset="0"/>
                <a:ea typeface="Source Sans Pro SemiBold" panose="020B0603030403020204" pitchFamily="34" charset="0"/>
              </a:rPr>
              <a:t>What I Do</a:t>
            </a:r>
            <a:endParaRPr lang="en-US" sz="3200" dirty="0">
              <a:solidFill>
                <a:srgbClr val="1F1F1F"/>
              </a:solidFill>
              <a:latin typeface="Source Sans Pro SemiBold" panose="020B0603030403020204" pitchFamily="34" charset="0"/>
              <a:ea typeface="Source Sans Pro SemiBold" panose="020B0603030403020204" pitchFamily="34" charset="0"/>
            </a:endParaRPr>
          </a:p>
        </p:txBody>
      </p:sp>
      <p:sp>
        <p:nvSpPr>
          <p:cNvPr id="13" name="TextBox 12">
            <a:extLst>
              <a:ext uri="{FF2B5EF4-FFF2-40B4-BE49-F238E27FC236}">
                <a16:creationId xmlns:a16="http://schemas.microsoft.com/office/drawing/2014/main" id="{AA39C3C5-2A69-1FDA-3A6F-E2158BBB1E43}"/>
              </a:ext>
            </a:extLst>
          </p:cNvPr>
          <p:cNvSpPr txBox="1"/>
          <p:nvPr/>
        </p:nvSpPr>
        <p:spPr>
          <a:xfrm>
            <a:off x="4296426" y="2134544"/>
            <a:ext cx="6588692" cy="3785652"/>
          </a:xfrm>
          <a:prstGeom prst="rect">
            <a:avLst/>
          </a:prstGeom>
          <a:noFill/>
        </p:spPr>
        <p:txBody>
          <a:bodyPr wrap="square" rtlCol="0">
            <a:spAutoFit/>
          </a:bodyPr>
          <a:lstStyle/>
          <a:p>
            <a:pPr>
              <a:spcAft>
                <a:spcPts val="1800"/>
              </a:spcAft>
            </a:pPr>
            <a:r>
              <a:rPr lang="en-IN" b="1" dirty="0">
                <a:latin typeface="Source Sans Pro SemiBold" panose="020B0603030403020204" pitchFamily="34" charset="0"/>
                <a:ea typeface="Source Sans Pro SemiBold" panose="020B0603030403020204" pitchFamily="34" charset="0"/>
              </a:rPr>
              <a:t>Design Leadership</a:t>
            </a:r>
            <a:br>
              <a:rPr lang="en-IN" dirty="0">
                <a:latin typeface="Source Sans Pro" panose="020B0503030403020204" pitchFamily="34" charset="0"/>
                <a:ea typeface="Source Sans Pro" panose="020B0503030403020204" pitchFamily="34" charset="0"/>
              </a:rPr>
            </a:br>
            <a:r>
              <a:rPr lang="en-IN" dirty="0">
                <a:latin typeface="Source Sans Pro" panose="020B0503030403020204" pitchFamily="34" charset="0"/>
                <a:ea typeface="Source Sans Pro" panose="020B0503030403020204" pitchFamily="34" charset="0"/>
              </a:rPr>
              <a:t>Lead design teams, reviews, and cross-functional collaboration</a:t>
            </a:r>
          </a:p>
          <a:p>
            <a:pPr>
              <a:spcAft>
                <a:spcPts val="1800"/>
              </a:spcAft>
            </a:pPr>
            <a:r>
              <a:rPr lang="en-IN" b="1" dirty="0">
                <a:latin typeface="Source Sans Pro SemiBold" panose="020B0603030403020204" pitchFamily="34" charset="0"/>
                <a:ea typeface="Source Sans Pro SemiBold" panose="020B0603030403020204" pitchFamily="34" charset="0"/>
              </a:rPr>
              <a:t>UI &amp; Visual Design</a:t>
            </a:r>
            <a:br>
              <a:rPr lang="en-IN" dirty="0">
                <a:latin typeface="Source Sans Pro" panose="020B0503030403020204" pitchFamily="34" charset="0"/>
                <a:ea typeface="Source Sans Pro" panose="020B0503030403020204" pitchFamily="34" charset="0"/>
              </a:rPr>
            </a:br>
            <a:r>
              <a:rPr lang="en-IN" dirty="0">
                <a:latin typeface="Source Sans Pro" panose="020B0503030403020204" pitchFamily="34" charset="0"/>
                <a:ea typeface="Source Sans Pro" panose="020B0503030403020204" pitchFamily="34" charset="0"/>
              </a:rPr>
              <a:t>Web, internal platforms, presentations, and digital interfaces</a:t>
            </a:r>
          </a:p>
          <a:p>
            <a:pPr>
              <a:spcAft>
                <a:spcPts val="1800"/>
              </a:spcAft>
            </a:pPr>
            <a:r>
              <a:rPr lang="en-IN" b="1" dirty="0">
                <a:latin typeface="Source Sans Pro SemiBold" panose="020B0603030403020204" pitchFamily="34" charset="0"/>
                <a:ea typeface="Source Sans Pro SemiBold" panose="020B0603030403020204" pitchFamily="34" charset="0"/>
              </a:rPr>
              <a:t>Brand Governance</a:t>
            </a:r>
            <a:br>
              <a:rPr lang="en-IN" dirty="0">
                <a:latin typeface="Source Sans Pro" panose="020B0503030403020204" pitchFamily="34" charset="0"/>
                <a:ea typeface="Source Sans Pro" panose="020B0503030403020204" pitchFamily="34" charset="0"/>
              </a:rPr>
            </a:br>
            <a:r>
              <a:rPr lang="en-IN" dirty="0">
                <a:latin typeface="Source Sans Pro" panose="020B0503030403020204" pitchFamily="34" charset="0"/>
                <a:ea typeface="Source Sans Pro" panose="020B0503030403020204" pitchFamily="34" charset="0"/>
              </a:rPr>
              <a:t>Implement and maintain global brand guidelines across regions</a:t>
            </a:r>
          </a:p>
          <a:p>
            <a:pPr>
              <a:spcAft>
                <a:spcPts val="1800"/>
              </a:spcAft>
            </a:pPr>
            <a:r>
              <a:rPr lang="en-IN" b="1" dirty="0">
                <a:latin typeface="Source Sans Pro SemiBold" panose="020B0603030403020204" pitchFamily="34" charset="0"/>
                <a:ea typeface="Source Sans Pro SemiBold" panose="020B0603030403020204" pitchFamily="34" charset="0"/>
              </a:rPr>
              <a:t>Internal Platforms &amp; Engagement</a:t>
            </a:r>
            <a:br>
              <a:rPr lang="en-IN" dirty="0">
                <a:latin typeface="Source Sans Pro" panose="020B0503030403020204" pitchFamily="34" charset="0"/>
                <a:ea typeface="Source Sans Pro" panose="020B0503030403020204" pitchFamily="34" charset="0"/>
              </a:rPr>
            </a:br>
            <a:r>
              <a:rPr lang="en-IN" dirty="0">
                <a:latin typeface="Source Sans Pro" panose="020B0503030403020204" pitchFamily="34" charset="0"/>
                <a:ea typeface="Source Sans Pro" panose="020B0503030403020204" pitchFamily="34" charset="0"/>
              </a:rPr>
              <a:t>Employee communication apps, campaigns, and digital signage</a:t>
            </a:r>
          </a:p>
          <a:p>
            <a:pPr>
              <a:spcAft>
                <a:spcPts val="1800"/>
              </a:spcAft>
            </a:pPr>
            <a:r>
              <a:rPr lang="en-IN" b="1" dirty="0">
                <a:latin typeface="Source Sans Pro SemiBold" panose="020B0603030403020204" pitchFamily="34" charset="0"/>
                <a:ea typeface="Source Sans Pro SemiBold" panose="020B0603030403020204" pitchFamily="34" charset="0"/>
              </a:rPr>
              <a:t>Digital Communication</a:t>
            </a:r>
            <a:br>
              <a:rPr lang="en-IN" dirty="0">
                <a:latin typeface="Source Sans Pro" panose="020B0503030403020204" pitchFamily="34" charset="0"/>
                <a:ea typeface="Source Sans Pro" panose="020B0503030403020204" pitchFamily="34" charset="0"/>
              </a:rPr>
            </a:br>
            <a:r>
              <a:rPr lang="en-IN" dirty="0">
                <a:latin typeface="Source Sans Pro" panose="020B0503030403020204" pitchFamily="34" charset="0"/>
                <a:ea typeface="Source Sans Pro" panose="020B0503030403020204" pitchFamily="34" charset="0"/>
              </a:rPr>
              <a:t>Email systems, leadership presentations, video &amp; motion support</a:t>
            </a:r>
          </a:p>
        </p:txBody>
      </p:sp>
    </p:spTree>
    <p:extLst>
      <p:ext uri="{BB962C8B-B14F-4D97-AF65-F5344CB8AC3E}">
        <p14:creationId xmlns:p14="http://schemas.microsoft.com/office/powerpoint/2010/main" val="2765453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alpha val="37693"/>
          </a:schemeClr>
        </a:solidFill>
        <a:effectLst/>
      </p:bgPr>
    </p:bg>
    <p:spTree>
      <p:nvGrpSpPr>
        <p:cNvPr id="1" name="">
          <a:extLst>
            <a:ext uri="{FF2B5EF4-FFF2-40B4-BE49-F238E27FC236}">
              <a16:creationId xmlns:a16="http://schemas.microsoft.com/office/drawing/2014/main" id="{50CF046E-35E1-BAC5-914F-0F4EBECC197E}"/>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D929F9CD-C353-4D55-C119-2BB757C5E1E4}"/>
              </a:ext>
            </a:extLst>
          </p:cNvPr>
          <p:cNvPicPr>
            <a:picLocks noChangeAspect="1"/>
          </p:cNvPicPr>
          <p:nvPr/>
        </p:nvPicPr>
        <p:blipFill>
          <a:blip r:embed="rId2">
            <a:alphaModFix amt="36000"/>
          </a:blip>
          <a:srcRect/>
          <a:stretch/>
        </p:blipFill>
        <p:spPr>
          <a:xfrm>
            <a:off x="1" y="0"/>
            <a:ext cx="12192250" cy="6857861"/>
          </a:xfrm>
          <a:prstGeom prst="rect">
            <a:avLst/>
          </a:prstGeom>
        </p:spPr>
      </p:pic>
      <p:pic>
        <p:nvPicPr>
          <p:cNvPr id="11" name="Picture 10" descr="A blue and green letter j&#10;&#10;AI-generated content may be incorrect.">
            <a:extLst>
              <a:ext uri="{FF2B5EF4-FFF2-40B4-BE49-F238E27FC236}">
                <a16:creationId xmlns:a16="http://schemas.microsoft.com/office/drawing/2014/main" id="{D439BCE4-0177-FDD2-598B-04AD4E58159C}"/>
              </a:ext>
            </a:extLst>
          </p:cNvPr>
          <p:cNvPicPr>
            <a:picLocks noChangeAspect="1"/>
          </p:cNvPicPr>
          <p:nvPr/>
        </p:nvPicPr>
        <p:blipFill>
          <a:blip r:embed="rId3"/>
          <a:stretch>
            <a:fillRect/>
          </a:stretch>
        </p:blipFill>
        <p:spPr>
          <a:xfrm>
            <a:off x="464420" y="388307"/>
            <a:ext cx="430147" cy="430147"/>
          </a:xfrm>
          <a:prstGeom prst="rect">
            <a:avLst/>
          </a:prstGeom>
        </p:spPr>
      </p:pic>
      <p:sp>
        <p:nvSpPr>
          <p:cNvPr id="35" name="TextBox 34">
            <a:extLst>
              <a:ext uri="{FF2B5EF4-FFF2-40B4-BE49-F238E27FC236}">
                <a16:creationId xmlns:a16="http://schemas.microsoft.com/office/drawing/2014/main" id="{AE7A2093-BADF-5B34-30C9-672EACFB8362}"/>
              </a:ext>
            </a:extLst>
          </p:cNvPr>
          <p:cNvSpPr txBox="1"/>
          <p:nvPr/>
        </p:nvSpPr>
        <p:spPr>
          <a:xfrm>
            <a:off x="1177445" y="309693"/>
            <a:ext cx="1696298" cy="430887"/>
          </a:xfrm>
          <a:prstGeom prst="rect">
            <a:avLst/>
          </a:prstGeom>
          <a:noFill/>
        </p:spPr>
        <p:txBody>
          <a:bodyPr wrap="none" rtlCol="0">
            <a:spAutoFit/>
          </a:bodyPr>
          <a:lstStyle/>
          <a:p>
            <a:r>
              <a:rPr lang="en-IN" sz="2200" dirty="0">
                <a:solidFill>
                  <a:srgbClr val="1F1F1F"/>
                </a:solidFill>
                <a:latin typeface="Source Sans Pro Light" panose="020B0403030403020204" pitchFamily="34" charset="0"/>
                <a:ea typeface="Source Sans Pro Light" panose="020B0403030403020204" pitchFamily="34" charset="0"/>
              </a:rPr>
              <a:t>Case Study 1 </a:t>
            </a:r>
            <a:endParaRPr lang="en-US" sz="2200" dirty="0">
              <a:solidFill>
                <a:srgbClr val="1F1F1F"/>
              </a:solidFill>
              <a:latin typeface="Source Sans Pro Light" panose="020B0403030403020204" pitchFamily="34" charset="0"/>
              <a:ea typeface="Source Sans Pro Light" panose="020B0403030403020204" pitchFamily="34" charset="0"/>
            </a:endParaRPr>
          </a:p>
        </p:txBody>
      </p:sp>
      <p:sp>
        <p:nvSpPr>
          <p:cNvPr id="36" name="TextBox 35">
            <a:extLst>
              <a:ext uri="{FF2B5EF4-FFF2-40B4-BE49-F238E27FC236}">
                <a16:creationId xmlns:a16="http://schemas.microsoft.com/office/drawing/2014/main" id="{DDAC9016-D6C0-B1CC-586C-82A7C107B17A}"/>
              </a:ext>
            </a:extLst>
          </p:cNvPr>
          <p:cNvSpPr txBox="1"/>
          <p:nvPr/>
        </p:nvSpPr>
        <p:spPr>
          <a:xfrm>
            <a:off x="1177445" y="722884"/>
            <a:ext cx="9313768" cy="461665"/>
          </a:xfrm>
          <a:prstGeom prst="rect">
            <a:avLst/>
          </a:prstGeom>
          <a:noFill/>
        </p:spPr>
        <p:txBody>
          <a:bodyPr wrap="none" rtlCol="0">
            <a:spAutoFit/>
          </a:bodyPr>
          <a:lstStyle/>
          <a:p>
            <a:r>
              <a:rPr lang="en-IN" sz="2400" b="1" dirty="0">
                <a:latin typeface="Source Sans Pro SemiBold" panose="020B0603030403020204" pitchFamily="34" charset="0"/>
                <a:ea typeface="Source Sans Pro SemiBold" panose="020B0603030403020204" pitchFamily="34" charset="0"/>
              </a:rPr>
              <a:t>Design Leadership &amp; Brand Transformation (</a:t>
            </a:r>
            <a:r>
              <a:rPr lang="en-IN" sz="2400" dirty="0">
                <a:latin typeface="Source Sans Pro" panose="020B0503030403020204" pitchFamily="34" charset="0"/>
                <a:ea typeface="Source Sans Pro" panose="020B0503030403020204" pitchFamily="34" charset="0"/>
              </a:rPr>
              <a:t>Carelon Global Solutions)</a:t>
            </a:r>
            <a:endParaRPr lang="en-US" sz="2400" dirty="0">
              <a:solidFill>
                <a:srgbClr val="1F1F1F"/>
              </a:solidFill>
              <a:latin typeface="Source Sans Pro" panose="020B0503030403020204" pitchFamily="34" charset="0"/>
              <a:ea typeface="Source Sans Pro" panose="020B0503030403020204" pitchFamily="34" charset="0"/>
            </a:endParaRPr>
          </a:p>
        </p:txBody>
      </p:sp>
      <p:sp>
        <p:nvSpPr>
          <p:cNvPr id="37" name="TextBox 36">
            <a:extLst>
              <a:ext uri="{FF2B5EF4-FFF2-40B4-BE49-F238E27FC236}">
                <a16:creationId xmlns:a16="http://schemas.microsoft.com/office/drawing/2014/main" id="{94BBEE71-DC74-08F8-E63A-3FF47ACC07B7}"/>
              </a:ext>
            </a:extLst>
          </p:cNvPr>
          <p:cNvSpPr txBox="1"/>
          <p:nvPr/>
        </p:nvSpPr>
        <p:spPr>
          <a:xfrm>
            <a:off x="1177445" y="1216649"/>
            <a:ext cx="5660524" cy="646331"/>
          </a:xfrm>
          <a:prstGeom prst="rect">
            <a:avLst/>
          </a:prstGeom>
          <a:noFill/>
        </p:spPr>
        <p:txBody>
          <a:bodyPr wrap="none" rtlCol="0">
            <a:spAutoFit/>
          </a:bodyPr>
          <a:lstStyle/>
          <a:p>
            <a:r>
              <a:rPr lang="en-IN" b="1" dirty="0">
                <a:latin typeface="Source Sans Pro SemiBold" panose="020B0603030403020204" pitchFamily="34" charset="0"/>
                <a:ea typeface="Source Sans Pro SemiBold" panose="020B0603030403020204" pitchFamily="34" charset="0"/>
              </a:rPr>
              <a:t>Role: </a:t>
            </a:r>
            <a:r>
              <a:rPr lang="en-IN" dirty="0">
                <a:latin typeface="Source Sans Pro" panose="020B0503030403020204" pitchFamily="34" charset="0"/>
                <a:ea typeface="Source Sans Pro" panose="020B0503030403020204" pitchFamily="34" charset="0"/>
              </a:rPr>
              <a:t>Design Team Lead - Brand &amp; Visual Communication</a:t>
            </a:r>
            <a:br>
              <a:rPr lang="en-IN" dirty="0">
                <a:latin typeface="Source Sans Pro" panose="020B0503030403020204" pitchFamily="34" charset="0"/>
                <a:ea typeface="Source Sans Pro" panose="020B0503030403020204" pitchFamily="34" charset="0"/>
              </a:rPr>
            </a:br>
            <a:r>
              <a:rPr lang="en-IN" b="1" dirty="0">
                <a:latin typeface="Source Sans Pro SemiBold" panose="020B0603030403020204" pitchFamily="34" charset="0"/>
                <a:ea typeface="Source Sans Pro SemiBold" panose="020B0603030403020204" pitchFamily="34" charset="0"/>
              </a:rPr>
              <a:t>Duration: </a:t>
            </a:r>
            <a:r>
              <a:rPr lang="en-IN" dirty="0">
                <a:latin typeface="Source Sans Pro" panose="020B0503030403020204" pitchFamily="34" charset="0"/>
                <a:ea typeface="Source Sans Pro" panose="020B0503030403020204" pitchFamily="34" charset="0"/>
              </a:rPr>
              <a:t>2021 – 2025</a:t>
            </a:r>
            <a:endParaRPr lang="en-US" dirty="0">
              <a:latin typeface="Source Sans Pro" panose="020B0503030403020204" pitchFamily="34" charset="0"/>
              <a:ea typeface="Source Sans Pro" panose="020B0503030403020204" pitchFamily="34" charset="0"/>
            </a:endParaRPr>
          </a:p>
        </p:txBody>
      </p:sp>
      <p:sp>
        <p:nvSpPr>
          <p:cNvPr id="38" name="TextBox 37">
            <a:extLst>
              <a:ext uri="{FF2B5EF4-FFF2-40B4-BE49-F238E27FC236}">
                <a16:creationId xmlns:a16="http://schemas.microsoft.com/office/drawing/2014/main" id="{6451C5DA-3285-C389-34C0-8BF4C9B243C7}"/>
              </a:ext>
            </a:extLst>
          </p:cNvPr>
          <p:cNvSpPr txBox="1"/>
          <p:nvPr/>
        </p:nvSpPr>
        <p:spPr>
          <a:xfrm>
            <a:off x="1177445" y="2098937"/>
            <a:ext cx="1107996" cy="400110"/>
          </a:xfrm>
          <a:prstGeom prst="rect">
            <a:avLst/>
          </a:prstGeom>
          <a:noFill/>
        </p:spPr>
        <p:txBody>
          <a:bodyPr wrap="none" rtlCol="0">
            <a:spAutoFit/>
          </a:bodyPr>
          <a:lstStyle/>
          <a:p>
            <a:r>
              <a:rPr lang="en-IN" sz="2000" dirty="0">
                <a:solidFill>
                  <a:srgbClr val="1F1F1F"/>
                </a:solidFill>
                <a:latin typeface="Source Sans Pro SemiBold" panose="020B0603030403020204" pitchFamily="34" charset="0"/>
                <a:ea typeface="Source Sans Pro SemiBold" panose="020B0603030403020204" pitchFamily="34" charset="0"/>
              </a:rPr>
              <a:t>Context </a:t>
            </a:r>
            <a:endParaRPr lang="en-US" sz="2000" dirty="0">
              <a:solidFill>
                <a:srgbClr val="1F1F1F"/>
              </a:solidFill>
              <a:latin typeface="Source Sans Pro SemiBold" panose="020B0603030403020204" pitchFamily="34" charset="0"/>
              <a:ea typeface="Source Sans Pro SemiBold" panose="020B0603030403020204" pitchFamily="34" charset="0"/>
            </a:endParaRPr>
          </a:p>
        </p:txBody>
      </p:sp>
      <p:sp>
        <p:nvSpPr>
          <p:cNvPr id="39" name="TextBox 38">
            <a:extLst>
              <a:ext uri="{FF2B5EF4-FFF2-40B4-BE49-F238E27FC236}">
                <a16:creationId xmlns:a16="http://schemas.microsoft.com/office/drawing/2014/main" id="{4BD909C4-7E3D-8041-DDF6-C3DAEB02AC18}"/>
              </a:ext>
            </a:extLst>
          </p:cNvPr>
          <p:cNvSpPr txBox="1"/>
          <p:nvPr/>
        </p:nvSpPr>
        <p:spPr>
          <a:xfrm>
            <a:off x="1177445" y="2483296"/>
            <a:ext cx="10208714" cy="830997"/>
          </a:xfrm>
          <a:prstGeom prst="rect">
            <a:avLst/>
          </a:prstGeom>
          <a:noFill/>
        </p:spPr>
        <p:txBody>
          <a:bodyPr wrap="square" rtlCol="0">
            <a:spAutoFit/>
          </a:bodyPr>
          <a:lstStyle/>
          <a:p>
            <a:r>
              <a:rPr lang="en-US" sz="1600" dirty="0" err="1">
                <a:latin typeface="Source Sans Pro" panose="020B0503030403020204" pitchFamily="34" charset="0"/>
                <a:ea typeface="Source Sans Pro" panose="020B0503030403020204" pitchFamily="34" charset="0"/>
              </a:rPr>
              <a:t>Carelon</a:t>
            </a:r>
            <a:r>
              <a:rPr lang="en-US" sz="1600" dirty="0">
                <a:latin typeface="Source Sans Pro" panose="020B0503030403020204" pitchFamily="34" charset="0"/>
                <a:ea typeface="Source Sans Pro" panose="020B0503030403020204" pitchFamily="34" charset="0"/>
              </a:rPr>
              <a:t> Global Solutions India was undergoing a full enterprise brand transition, requiring alignment with global brand standards while supporting high-volume, high-visibility internal communications across leadership, employees, and digital channels.</a:t>
            </a:r>
            <a:endParaRPr lang="en-IN" sz="1600" dirty="0">
              <a:latin typeface="Source Sans Pro" panose="020B0503030403020204" pitchFamily="34" charset="0"/>
              <a:ea typeface="Source Sans Pro" panose="020B0503030403020204" pitchFamily="34" charset="0"/>
            </a:endParaRPr>
          </a:p>
        </p:txBody>
      </p:sp>
      <p:sp>
        <p:nvSpPr>
          <p:cNvPr id="40" name="TextBox 39">
            <a:extLst>
              <a:ext uri="{FF2B5EF4-FFF2-40B4-BE49-F238E27FC236}">
                <a16:creationId xmlns:a16="http://schemas.microsoft.com/office/drawing/2014/main" id="{D5395E25-C531-F9AC-8C1E-F61448373D58}"/>
              </a:ext>
            </a:extLst>
          </p:cNvPr>
          <p:cNvSpPr txBox="1"/>
          <p:nvPr/>
        </p:nvSpPr>
        <p:spPr>
          <a:xfrm>
            <a:off x="1177444" y="3655800"/>
            <a:ext cx="2268570" cy="400110"/>
          </a:xfrm>
          <a:prstGeom prst="rect">
            <a:avLst/>
          </a:prstGeom>
          <a:noFill/>
        </p:spPr>
        <p:txBody>
          <a:bodyPr wrap="none" rtlCol="0">
            <a:spAutoFit/>
          </a:bodyPr>
          <a:lstStyle/>
          <a:p>
            <a:r>
              <a:rPr lang="en-US" sz="2000" dirty="0">
                <a:solidFill>
                  <a:srgbClr val="1F1F1F"/>
                </a:solidFill>
                <a:latin typeface="Source Sans Pro SemiBold" panose="020B0603030403020204" pitchFamily="34" charset="0"/>
                <a:ea typeface="Source Sans Pro SemiBold" panose="020B0603030403020204" pitchFamily="34" charset="0"/>
              </a:rPr>
              <a:t>What Was at Stake</a:t>
            </a:r>
            <a:r>
              <a:rPr lang="en-IN" sz="2000" dirty="0">
                <a:solidFill>
                  <a:srgbClr val="1F1F1F"/>
                </a:solidFill>
                <a:latin typeface="Source Sans Pro SemiBold" panose="020B0603030403020204" pitchFamily="34" charset="0"/>
                <a:ea typeface="Source Sans Pro SemiBold" panose="020B0603030403020204" pitchFamily="34" charset="0"/>
              </a:rPr>
              <a:t> </a:t>
            </a:r>
            <a:endParaRPr lang="en-US" sz="2000" dirty="0">
              <a:solidFill>
                <a:srgbClr val="1F1F1F"/>
              </a:solidFill>
              <a:latin typeface="Source Sans Pro SemiBold" panose="020B0603030403020204" pitchFamily="34" charset="0"/>
              <a:ea typeface="Source Sans Pro SemiBold" panose="020B0603030403020204" pitchFamily="34" charset="0"/>
            </a:endParaRPr>
          </a:p>
        </p:txBody>
      </p:sp>
      <p:sp>
        <p:nvSpPr>
          <p:cNvPr id="41" name="TextBox 40">
            <a:extLst>
              <a:ext uri="{FF2B5EF4-FFF2-40B4-BE49-F238E27FC236}">
                <a16:creationId xmlns:a16="http://schemas.microsoft.com/office/drawing/2014/main" id="{E62AA63B-7EF8-11EC-CF83-38813E581428}"/>
              </a:ext>
            </a:extLst>
          </p:cNvPr>
          <p:cNvSpPr txBox="1"/>
          <p:nvPr/>
        </p:nvSpPr>
        <p:spPr>
          <a:xfrm>
            <a:off x="1177444" y="4052685"/>
            <a:ext cx="9745252" cy="1615827"/>
          </a:xfrm>
          <a:prstGeom prst="rect">
            <a:avLst/>
          </a:prstGeom>
          <a:noFill/>
        </p:spPr>
        <p:txBody>
          <a:bodyPr wrap="square" rtlCol="0">
            <a:spAutoFit/>
          </a:bodyPr>
          <a:lstStyle/>
          <a:p>
            <a:pPr>
              <a:spcAft>
                <a:spcPts val="600"/>
              </a:spcAft>
            </a:pPr>
            <a:r>
              <a:rPr lang="en-IN" sz="1600" dirty="0">
                <a:latin typeface="Source Sans Pro" panose="020B0503030403020204" pitchFamily="34" charset="0"/>
                <a:ea typeface="Source Sans Pro" panose="020B0503030403020204" pitchFamily="34" charset="0"/>
              </a:rPr>
              <a:t>The transition from Legato Health Technologies to Carelon Global Solutions required:</a:t>
            </a:r>
          </a:p>
          <a:p>
            <a:pPr marL="273050" indent="-123825" eaLnBrk="0" fontAlgn="base" hangingPunct="0">
              <a:spcBef>
                <a:spcPct val="0"/>
              </a:spcBef>
              <a:spcAft>
                <a:spcPts val="600"/>
              </a:spcAft>
              <a:buFontTx/>
              <a:buChar char="•"/>
            </a:pPr>
            <a:r>
              <a:rPr lang="en-IN" sz="1600" dirty="0">
                <a:latin typeface="Source Sans Pro" panose="020B0503030403020204" pitchFamily="34" charset="0"/>
                <a:ea typeface="Source Sans Pro" panose="020B0503030403020204" pitchFamily="34" charset="0"/>
              </a:rPr>
              <a:t>Zero brand inconsistency across India operations</a:t>
            </a:r>
          </a:p>
          <a:p>
            <a:pPr marL="273050" indent="-123825" eaLnBrk="0" fontAlgn="base" hangingPunct="0">
              <a:spcBef>
                <a:spcPct val="0"/>
              </a:spcBef>
              <a:spcAft>
                <a:spcPts val="600"/>
              </a:spcAft>
              <a:buFontTx/>
              <a:buChar char="•"/>
            </a:pPr>
            <a:r>
              <a:rPr lang="en-IN" sz="1600" dirty="0">
                <a:latin typeface="Source Sans Pro" panose="020B0503030403020204" pitchFamily="34" charset="0"/>
                <a:ea typeface="Source Sans Pro" panose="020B0503030403020204" pitchFamily="34" charset="0"/>
              </a:rPr>
              <a:t>High leadership visibility</a:t>
            </a:r>
          </a:p>
          <a:p>
            <a:pPr marL="273050" indent="-123825" eaLnBrk="0" fontAlgn="base" hangingPunct="0">
              <a:spcBef>
                <a:spcPct val="0"/>
              </a:spcBef>
              <a:spcAft>
                <a:spcPts val="600"/>
              </a:spcAft>
              <a:buFontTx/>
              <a:buChar char="•"/>
            </a:pPr>
            <a:r>
              <a:rPr lang="en-IN" sz="1600" dirty="0">
                <a:latin typeface="Source Sans Pro" panose="020B0503030403020204" pitchFamily="34" charset="0"/>
                <a:ea typeface="Source Sans Pro" panose="020B0503030403020204" pitchFamily="34" charset="0"/>
              </a:rPr>
              <a:t>Scalable execution without over-reliance on agencies</a:t>
            </a:r>
          </a:p>
          <a:p>
            <a:pPr eaLnBrk="0" fontAlgn="base" hangingPunct="0">
              <a:spcBef>
                <a:spcPct val="0"/>
              </a:spcBef>
              <a:spcAft>
                <a:spcPts val="600"/>
              </a:spcAft>
            </a:pPr>
            <a:r>
              <a:rPr lang="en-IN" sz="1600" dirty="0">
                <a:latin typeface="Source Sans Pro" panose="020B0503030403020204" pitchFamily="34" charset="0"/>
                <a:ea typeface="Source Sans Pro" panose="020B0503030403020204" pitchFamily="34" charset="0"/>
              </a:rPr>
              <a:t>Failure would result in fragmented brand adoption and loss of credibility with global stakeholders.</a:t>
            </a:r>
          </a:p>
        </p:txBody>
      </p:sp>
      <p:sp>
        <p:nvSpPr>
          <p:cNvPr id="42" name="TextBox 41">
            <a:extLst>
              <a:ext uri="{FF2B5EF4-FFF2-40B4-BE49-F238E27FC236}">
                <a16:creationId xmlns:a16="http://schemas.microsoft.com/office/drawing/2014/main" id="{7693C2C1-8FE5-9386-CC28-9CAD36D3B182}"/>
              </a:ext>
            </a:extLst>
          </p:cNvPr>
          <p:cNvSpPr txBox="1"/>
          <p:nvPr/>
        </p:nvSpPr>
        <p:spPr>
          <a:xfrm>
            <a:off x="1177445" y="6409868"/>
            <a:ext cx="6370655" cy="276999"/>
          </a:xfrm>
          <a:prstGeom prst="rect">
            <a:avLst/>
          </a:prstGeom>
          <a:noFill/>
        </p:spPr>
        <p:txBody>
          <a:bodyPr wrap="none" rtlCol="0">
            <a:spAutoFit/>
          </a:bodyPr>
          <a:lstStyle/>
          <a:p>
            <a:r>
              <a:rPr lang="en-IN" sz="1200" dirty="0">
                <a:solidFill>
                  <a:srgbClr val="1F1F1F"/>
                </a:solidFill>
                <a:latin typeface="Source Sans Pro Light" panose="020B0403030403020204" pitchFamily="34" charset="0"/>
                <a:ea typeface="Source Sans Pro Light" panose="020B0403030403020204" pitchFamily="34" charset="0"/>
              </a:rPr>
              <a:t>Due to NDA restrictions, visuals shown are recreated or abstracted. Original assets cannot be shared.</a:t>
            </a:r>
            <a:endParaRPr lang="en-US" sz="1200" dirty="0">
              <a:solidFill>
                <a:srgbClr val="1F1F1F"/>
              </a:solidFill>
              <a:latin typeface="Source Sans Pro Light" panose="020B0403030403020204" pitchFamily="34" charset="0"/>
              <a:ea typeface="Source Sans Pro Light" panose="020B0403030403020204" pitchFamily="34" charset="0"/>
            </a:endParaRPr>
          </a:p>
        </p:txBody>
      </p:sp>
    </p:spTree>
    <p:extLst>
      <p:ext uri="{BB962C8B-B14F-4D97-AF65-F5344CB8AC3E}">
        <p14:creationId xmlns:p14="http://schemas.microsoft.com/office/powerpoint/2010/main" val="2594069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alpha val="37693"/>
          </a:schemeClr>
        </a:solidFill>
        <a:effectLst/>
      </p:bgPr>
    </p:bg>
    <p:spTree>
      <p:nvGrpSpPr>
        <p:cNvPr id="1" name="">
          <a:extLst>
            <a:ext uri="{FF2B5EF4-FFF2-40B4-BE49-F238E27FC236}">
              <a16:creationId xmlns:a16="http://schemas.microsoft.com/office/drawing/2014/main" id="{99BEE9D1-DA7C-D2D3-C1CE-4508D6EDDE1C}"/>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7072E37C-E230-3A50-B5B3-8675273A055B}"/>
              </a:ext>
            </a:extLst>
          </p:cNvPr>
          <p:cNvPicPr>
            <a:picLocks noChangeAspect="1"/>
          </p:cNvPicPr>
          <p:nvPr/>
        </p:nvPicPr>
        <p:blipFill>
          <a:blip r:embed="rId2">
            <a:alphaModFix amt="36000"/>
          </a:blip>
          <a:srcRect/>
          <a:stretch/>
        </p:blipFill>
        <p:spPr>
          <a:xfrm>
            <a:off x="1" y="0"/>
            <a:ext cx="12192250" cy="6857861"/>
          </a:xfrm>
          <a:prstGeom prst="rect">
            <a:avLst/>
          </a:prstGeom>
        </p:spPr>
      </p:pic>
      <p:pic>
        <p:nvPicPr>
          <p:cNvPr id="11" name="Picture 10" descr="A blue and green letter j&#10;&#10;AI-generated content may be incorrect.">
            <a:extLst>
              <a:ext uri="{FF2B5EF4-FFF2-40B4-BE49-F238E27FC236}">
                <a16:creationId xmlns:a16="http://schemas.microsoft.com/office/drawing/2014/main" id="{31E2122F-37DA-0CA8-2184-510C477E6F8E}"/>
              </a:ext>
            </a:extLst>
          </p:cNvPr>
          <p:cNvPicPr>
            <a:picLocks noChangeAspect="1"/>
          </p:cNvPicPr>
          <p:nvPr/>
        </p:nvPicPr>
        <p:blipFill>
          <a:blip r:embed="rId3"/>
          <a:stretch>
            <a:fillRect/>
          </a:stretch>
        </p:blipFill>
        <p:spPr>
          <a:xfrm>
            <a:off x="464420" y="388307"/>
            <a:ext cx="430147" cy="430147"/>
          </a:xfrm>
          <a:prstGeom prst="rect">
            <a:avLst/>
          </a:prstGeom>
        </p:spPr>
      </p:pic>
      <p:sp>
        <p:nvSpPr>
          <p:cNvPr id="22" name="TextBox 21">
            <a:extLst>
              <a:ext uri="{FF2B5EF4-FFF2-40B4-BE49-F238E27FC236}">
                <a16:creationId xmlns:a16="http://schemas.microsoft.com/office/drawing/2014/main" id="{5DE2DA33-70E2-FF17-9897-61D123056FDD}"/>
              </a:ext>
            </a:extLst>
          </p:cNvPr>
          <p:cNvSpPr txBox="1"/>
          <p:nvPr/>
        </p:nvSpPr>
        <p:spPr>
          <a:xfrm>
            <a:off x="1177445" y="309693"/>
            <a:ext cx="1696298" cy="430887"/>
          </a:xfrm>
          <a:prstGeom prst="rect">
            <a:avLst/>
          </a:prstGeom>
          <a:noFill/>
        </p:spPr>
        <p:txBody>
          <a:bodyPr wrap="none" rtlCol="0">
            <a:spAutoFit/>
          </a:bodyPr>
          <a:lstStyle/>
          <a:p>
            <a:r>
              <a:rPr lang="en-IN" sz="2200" dirty="0">
                <a:solidFill>
                  <a:srgbClr val="1F1F1F"/>
                </a:solidFill>
                <a:latin typeface="Source Sans Pro Light" panose="020B0403030403020204" pitchFamily="34" charset="0"/>
                <a:ea typeface="Source Sans Pro Light" panose="020B0403030403020204" pitchFamily="34" charset="0"/>
              </a:rPr>
              <a:t>Case Study 1 </a:t>
            </a:r>
            <a:endParaRPr lang="en-US" sz="2200" dirty="0">
              <a:solidFill>
                <a:srgbClr val="1F1F1F"/>
              </a:solidFill>
              <a:latin typeface="Source Sans Pro Light" panose="020B0403030403020204" pitchFamily="34" charset="0"/>
              <a:ea typeface="Source Sans Pro Light" panose="020B0403030403020204" pitchFamily="34" charset="0"/>
            </a:endParaRPr>
          </a:p>
        </p:txBody>
      </p:sp>
      <p:sp>
        <p:nvSpPr>
          <p:cNvPr id="28" name="TextBox 27">
            <a:extLst>
              <a:ext uri="{FF2B5EF4-FFF2-40B4-BE49-F238E27FC236}">
                <a16:creationId xmlns:a16="http://schemas.microsoft.com/office/drawing/2014/main" id="{BAB1FC43-9155-4A78-B14F-0C4DC1664E43}"/>
              </a:ext>
            </a:extLst>
          </p:cNvPr>
          <p:cNvSpPr txBox="1"/>
          <p:nvPr/>
        </p:nvSpPr>
        <p:spPr>
          <a:xfrm>
            <a:off x="1177445" y="1244848"/>
            <a:ext cx="1805302" cy="400110"/>
          </a:xfrm>
          <a:prstGeom prst="rect">
            <a:avLst/>
          </a:prstGeom>
          <a:noFill/>
        </p:spPr>
        <p:txBody>
          <a:bodyPr wrap="none" rtlCol="0">
            <a:spAutoFit/>
          </a:bodyPr>
          <a:lstStyle/>
          <a:p>
            <a:r>
              <a:rPr lang="en-US" sz="2000" dirty="0">
                <a:solidFill>
                  <a:srgbClr val="1F1F1F"/>
                </a:solidFill>
                <a:latin typeface="Source Sans Pro SemiBold" panose="020B0603030403020204" pitchFamily="34" charset="0"/>
                <a:ea typeface="Source Sans Pro SemiBold" panose="020B0603030403020204" pitchFamily="34" charset="0"/>
              </a:rPr>
              <a:t>My Ownership</a:t>
            </a:r>
            <a:r>
              <a:rPr lang="en-IN" sz="2000" dirty="0">
                <a:solidFill>
                  <a:srgbClr val="1F1F1F"/>
                </a:solidFill>
                <a:latin typeface="Source Sans Pro SemiBold" panose="020B0603030403020204" pitchFamily="34" charset="0"/>
                <a:ea typeface="Source Sans Pro SemiBold" panose="020B0603030403020204" pitchFamily="34" charset="0"/>
              </a:rPr>
              <a:t> </a:t>
            </a:r>
            <a:endParaRPr lang="en-US" sz="2000" dirty="0">
              <a:solidFill>
                <a:srgbClr val="1F1F1F"/>
              </a:solidFill>
              <a:latin typeface="Source Sans Pro SemiBold" panose="020B0603030403020204" pitchFamily="34" charset="0"/>
              <a:ea typeface="Source Sans Pro SemiBold" panose="020B0603030403020204" pitchFamily="34" charset="0"/>
            </a:endParaRPr>
          </a:p>
        </p:txBody>
      </p:sp>
      <p:sp>
        <p:nvSpPr>
          <p:cNvPr id="29" name="TextBox 28">
            <a:extLst>
              <a:ext uri="{FF2B5EF4-FFF2-40B4-BE49-F238E27FC236}">
                <a16:creationId xmlns:a16="http://schemas.microsoft.com/office/drawing/2014/main" id="{70F1BED8-6BE8-47FF-A177-33D1E8ABEE0F}"/>
              </a:ext>
            </a:extLst>
          </p:cNvPr>
          <p:cNvSpPr txBox="1"/>
          <p:nvPr/>
        </p:nvSpPr>
        <p:spPr>
          <a:xfrm>
            <a:off x="1177445" y="1641733"/>
            <a:ext cx="9745252" cy="1192634"/>
          </a:xfrm>
          <a:prstGeom prst="rect">
            <a:avLst/>
          </a:prstGeom>
          <a:noFill/>
        </p:spPr>
        <p:txBody>
          <a:bodyPr wrap="square" rtlCol="0">
            <a:spAutoFit/>
          </a:bodyPr>
          <a:lstStyle/>
          <a:p>
            <a:pPr eaLnBrk="0" fontAlgn="base" hangingPunct="0">
              <a:spcBef>
                <a:spcPct val="0"/>
              </a:spcBef>
              <a:spcAft>
                <a:spcPts val="300"/>
              </a:spcAft>
            </a:pPr>
            <a:r>
              <a:rPr lang="en-IN" sz="1600" dirty="0">
                <a:latin typeface="Source Sans Pro" panose="020B0503030403020204" pitchFamily="34" charset="0"/>
                <a:ea typeface="Source Sans Pro" panose="020B0503030403020204" pitchFamily="34" charset="0"/>
              </a:rPr>
              <a:t>I served as the single-point design owner for India, accountable for:</a:t>
            </a:r>
          </a:p>
          <a:p>
            <a:pPr marL="273050" lvl="0" indent="-1238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Brand governance and execution</a:t>
            </a:r>
          </a:p>
          <a:p>
            <a:pPr marL="273050" lvl="0" indent="-1238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Team delivery and quality control</a:t>
            </a:r>
          </a:p>
          <a:p>
            <a:pPr marL="273050" lvl="0" indent="-1238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Cross-functional alignment with global brand and communications teams</a:t>
            </a:r>
          </a:p>
        </p:txBody>
      </p:sp>
      <p:sp>
        <p:nvSpPr>
          <p:cNvPr id="31" name="TextBox 30">
            <a:extLst>
              <a:ext uri="{FF2B5EF4-FFF2-40B4-BE49-F238E27FC236}">
                <a16:creationId xmlns:a16="http://schemas.microsoft.com/office/drawing/2014/main" id="{32381658-047E-36EA-3314-8654AFD0F1C1}"/>
              </a:ext>
            </a:extLst>
          </p:cNvPr>
          <p:cNvSpPr txBox="1"/>
          <p:nvPr/>
        </p:nvSpPr>
        <p:spPr>
          <a:xfrm>
            <a:off x="1177444" y="2917023"/>
            <a:ext cx="2416046" cy="400110"/>
          </a:xfrm>
          <a:prstGeom prst="rect">
            <a:avLst/>
          </a:prstGeom>
          <a:noFill/>
        </p:spPr>
        <p:txBody>
          <a:bodyPr wrap="none" rtlCol="0">
            <a:spAutoFit/>
          </a:bodyPr>
          <a:lstStyle/>
          <a:p>
            <a:r>
              <a:rPr lang="en-IN" sz="2000" dirty="0">
                <a:solidFill>
                  <a:srgbClr val="1F1F1F"/>
                </a:solidFill>
                <a:latin typeface="Source Sans Pro SemiBold" panose="020B0603030403020204" pitchFamily="34" charset="0"/>
                <a:ea typeface="Source Sans Pro SemiBold" panose="020B0603030403020204" pitchFamily="34" charset="0"/>
              </a:rPr>
              <a:t>How I Approached It</a:t>
            </a:r>
          </a:p>
        </p:txBody>
      </p:sp>
      <p:sp>
        <p:nvSpPr>
          <p:cNvPr id="32" name="TextBox 31">
            <a:extLst>
              <a:ext uri="{FF2B5EF4-FFF2-40B4-BE49-F238E27FC236}">
                <a16:creationId xmlns:a16="http://schemas.microsoft.com/office/drawing/2014/main" id="{FFD3701F-4C88-2F07-EA79-FA84DFEB5EC9}"/>
              </a:ext>
            </a:extLst>
          </p:cNvPr>
          <p:cNvSpPr txBox="1"/>
          <p:nvPr/>
        </p:nvSpPr>
        <p:spPr>
          <a:xfrm>
            <a:off x="1177443" y="3301382"/>
            <a:ext cx="10158611" cy="1192634"/>
          </a:xfrm>
          <a:prstGeom prst="rect">
            <a:avLst/>
          </a:prstGeom>
          <a:noFill/>
        </p:spPr>
        <p:txBody>
          <a:bodyPr wrap="square" rtlCol="0">
            <a:spAutoFit/>
          </a:bodyPr>
          <a:lstStyle/>
          <a:p>
            <a:pPr marL="136525"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Built and led a 3-member in-house design team to scale delivery</a:t>
            </a:r>
          </a:p>
          <a:p>
            <a:pPr marL="136525"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Established design review and approval systems to enforce brand consistency</a:t>
            </a:r>
          </a:p>
          <a:p>
            <a:pPr marL="136525"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Set up an internal video production capability, reducing turnaround time and external costs</a:t>
            </a:r>
          </a:p>
          <a:p>
            <a:pPr marL="136525"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Worked closely with content, leadership, and global brand teams to translate guidelines into executable assets</a:t>
            </a:r>
          </a:p>
        </p:txBody>
      </p:sp>
      <p:sp>
        <p:nvSpPr>
          <p:cNvPr id="2" name="TextBox 1">
            <a:extLst>
              <a:ext uri="{FF2B5EF4-FFF2-40B4-BE49-F238E27FC236}">
                <a16:creationId xmlns:a16="http://schemas.microsoft.com/office/drawing/2014/main" id="{DF51553B-AFBF-A943-77D4-5AD79D9514D9}"/>
              </a:ext>
            </a:extLst>
          </p:cNvPr>
          <p:cNvSpPr txBox="1"/>
          <p:nvPr/>
        </p:nvSpPr>
        <p:spPr>
          <a:xfrm>
            <a:off x="1177445" y="6409868"/>
            <a:ext cx="6370655" cy="276999"/>
          </a:xfrm>
          <a:prstGeom prst="rect">
            <a:avLst/>
          </a:prstGeom>
          <a:noFill/>
        </p:spPr>
        <p:txBody>
          <a:bodyPr wrap="none" rtlCol="0">
            <a:spAutoFit/>
          </a:bodyPr>
          <a:lstStyle/>
          <a:p>
            <a:r>
              <a:rPr lang="en-IN" sz="1200" dirty="0">
                <a:solidFill>
                  <a:srgbClr val="1F1F1F"/>
                </a:solidFill>
                <a:latin typeface="Source Sans Pro Light" panose="020B0403030403020204" pitchFamily="34" charset="0"/>
                <a:ea typeface="Source Sans Pro Light" panose="020B0403030403020204" pitchFamily="34" charset="0"/>
              </a:rPr>
              <a:t>Due to NDA restrictions, visuals shown are recreated or abstracted. Original assets cannot be shared.</a:t>
            </a:r>
            <a:endParaRPr lang="en-US" sz="1200" dirty="0">
              <a:solidFill>
                <a:srgbClr val="1F1F1F"/>
              </a:solidFill>
              <a:latin typeface="Source Sans Pro Light" panose="020B0403030403020204" pitchFamily="34" charset="0"/>
              <a:ea typeface="Source Sans Pro Light" panose="020B0403030403020204" pitchFamily="34" charset="0"/>
            </a:endParaRPr>
          </a:p>
        </p:txBody>
      </p:sp>
      <p:sp>
        <p:nvSpPr>
          <p:cNvPr id="3" name="TextBox 2">
            <a:extLst>
              <a:ext uri="{FF2B5EF4-FFF2-40B4-BE49-F238E27FC236}">
                <a16:creationId xmlns:a16="http://schemas.microsoft.com/office/drawing/2014/main" id="{EF37D1CD-949D-D189-788B-E6D18C6DA6F9}"/>
              </a:ext>
            </a:extLst>
          </p:cNvPr>
          <p:cNvSpPr txBox="1"/>
          <p:nvPr/>
        </p:nvSpPr>
        <p:spPr>
          <a:xfrm>
            <a:off x="1177444" y="4643104"/>
            <a:ext cx="2242922" cy="400110"/>
          </a:xfrm>
          <a:prstGeom prst="rect">
            <a:avLst/>
          </a:prstGeom>
          <a:noFill/>
        </p:spPr>
        <p:txBody>
          <a:bodyPr wrap="none" rtlCol="0">
            <a:spAutoFit/>
          </a:bodyPr>
          <a:lstStyle/>
          <a:p>
            <a:r>
              <a:rPr lang="en-IN" sz="2000" dirty="0">
                <a:solidFill>
                  <a:srgbClr val="1F1F1F"/>
                </a:solidFill>
                <a:latin typeface="Source Sans Pro SemiBold" panose="020B0603030403020204" pitchFamily="34" charset="0"/>
                <a:ea typeface="Source Sans Pro SemiBold" panose="020B0603030403020204" pitchFamily="34" charset="0"/>
              </a:rPr>
              <a:t>Outcome &amp; Impact</a:t>
            </a:r>
          </a:p>
        </p:txBody>
      </p:sp>
      <p:sp>
        <p:nvSpPr>
          <p:cNvPr id="4" name="TextBox 3">
            <a:extLst>
              <a:ext uri="{FF2B5EF4-FFF2-40B4-BE49-F238E27FC236}">
                <a16:creationId xmlns:a16="http://schemas.microsoft.com/office/drawing/2014/main" id="{F5E3674B-93A9-F6E0-8F1A-B1DB24F4D828}"/>
              </a:ext>
            </a:extLst>
          </p:cNvPr>
          <p:cNvSpPr txBox="1"/>
          <p:nvPr/>
        </p:nvSpPr>
        <p:spPr>
          <a:xfrm>
            <a:off x="1177443" y="5060295"/>
            <a:ext cx="10158611" cy="1192634"/>
          </a:xfrm>
          <a:prstGeom prst="rect">
            <a:avLst/>
          </a:prstGeom>
          <a:noFill/>
        </p:spPr>
        <p:txBody>
          <a:bodyPr wrap="square" rtlCol="0">
            <a:spAutoFit/>
          </a:bodyPr>
          <a:lstStyle/>
          <a:p>
            <a:pPr marL="136525" lvl="0"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Achieved consistent brand adoption across India operations</a:t>
            </a:r>
          </a:p>
          <a:p>
            <a:pPr marL="136525" lvl="0"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Improved speed and quality of internal communications at scale</a:t>
            </a:r>
          </a:p>
          <a:p>
            <a:pPr marL="136525" lvl="0"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Reduced dependency on external agencies, driving measurable cost savings</a:t>
            </a:r>
          </a:p>
          <a:p>
            <a:pPr marL="136525" lvl="0"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Strengthened India’s credibility as a brand-compliant delivery unit within the global organization</a:t>
            </a:r>
          </a:p>
        </p:txBody>
      </p:sp>
      <p:sp>
        <p:nvSpPr>
          <p:cNvPr id="5" name="TextBox 4">
            <a:extLst>
              <a:ext uri="{FF2B5EF4-FFF2-40B4-BE49-F238E27FC236}">
                <a16:creationId xmlns:a16="http://schemas.microsoft.com/office/drawing/2014/main" id="{905B64B9-F4DC-6C2C-90E8-F570C39BE474}"/>
              </a:ext>
            </a:extLst>
          </p:cNvPr>
          <p:cNvSpPr txBox="1"/>
          <p:nvPr/>
        </p:nvSpPr>
        <p:spPr>
          <a:xfrm>
            <a:off x="1177445" y="722884"/>
            <a:ext cx="9313768" cy="461665"/>
          </a:xfrm>
          <a:prstGeom prst="rect">
            <a:avLst/>
          </a:prstGeom>
          <a:noFill/>
        </p:spPr>
        <p:txBody>
          <a:bodyPr wrap="none" rtlCol="0">
            <a:spAutoFit/>
          </a:bodyPr>
          <a:lstStyle/>
          <a:p>
            <a:r>
              <a:rPr lang="en-IN" sz="2400" b="1" dirty="0">
                <a:latin typeface="Source Sans Pro SemiBold" panose="020B0603030403020204" pitchFamily="34" charset="0"/>
                <a:ea typeface="Source Sans Pro SemiBold" panose="020B0603030403020204" pitchFamily="34" charset="0"/>
              </a:rPr>
              <a:t>Design Leadership &amp; Brand Transformation (</a:t>
            </a:r>
            <a:r>
              <a:rPr lang="en-IN" sz="2400" dirty="0">
                <a:latin typeface="Source Sans Pro" panose="020B0503030403020204" pitchFamily="34" charset="0"/>
                <a:ea typeface="Source Sans Pro" panose="020B0503030403020204" pitchFamily="34" charset="0"/>
              </a:rPr>
              <a:t>Carelon Global Solutions)</a:t>
            </a:r>
            <a:endParaRPr lang="en-US" sz="2400" dirty="0">
              <a:solidFill>
                <a:srgbClr val="1F1F1F"/>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149081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alpha val="10225"/>
          </a:schemeClr>
        </a:solidFill>
        <a:effectLst/>
      </p:bgPr>
    </p:bg>
    <p:spTree>
      <p:nvGrpSpPr>
        <p:cNvPr id="1" name="">
          <a:extLst>
            <a:ext uri="{FF2B5EF4-FFF2-40B4-BE49-F238E27FC236}">
              <a16:creationId xmlns:a16="http://schemas.microsoft.com/office/drawing/2014/main" id="{70320BA3-47DD-5393-9B2F-A05155F2B93A}"/>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A0BAC841-A9C3-D976-87C4-C81877C057FB}"/>
              </a:ext>
            </a:extLst>
          </p:cNvPr>
          <p:cNvPicPr>
            <a:picLocks noChangeAspect="1"/>
          </p:cNvPicPr>
          <p:nvPr/>
        </p:nvPicPr>
        <p:blipFill>
          <a:blip r:embed="rId2">
            <a:alphaModFix amt="36000"/>
          </a:blip>
          <a:srcRect/>
          <a:stretch/>
        </p:blipFill>
        <p:spPr>
          <a:xfrm>
            <a:off x="1" y="-15249"/>
            <a:ext cx="12192250" cy="6857861"/>
          </a:xfrm>
          <a:prstGeom prst="rect">
            <a:avLst/>
          </a:prstGeom>
        </p:spPr>
      </p:pic>
      <p:pic>
        <p:nvPicPr>
          <p:cNvPr id="11" name="Picture 10" descr="A blue and green letter j&#10;&#10;AI-generated content may be incorrect.">
            <a:extLst>
              <a:ext uri="{FF2B5EF4-FFF2-40B4-BE49-F238E27FC236}">
                <a16:creationId xmlns:a16="http://schemas.microsoft.com/office/drawing/2014/main" id="{499D0A87-AF24-ED67-FAE4-8B2E45EA9C96}"/>
              </a:ext>
            </a:extLst>
          </p:cNvPr>
          <p:cNvPicPr>
            <a:picLocks noChangeAspect="1"/>
          </p:cNvPicPr>
          <p:nvPr/>
        </p:nvPicPr>
        <p:blipFill>
          <a:blip r:embed="rId3"/>
          <a:stretch>
            <a:fillRect/>
          </a:stretch>
        </p:blipFill>
        <p:spPr>
          <a:xfrm>
            <a:off x="464420" y="388307"/>
            <a:ext cx="430147" cy="430147"/>
          </a:xfrm>
          <a:prstGeom prst="rect">
            <a:avLst/>
          </a:prstGeom>
        </p:spPr>
      </p:pic>
      <p:sp>
        <p:nvSpPr>
          <p:cNvPr id="35" name="TextBox 34">
            <a:extLst>
              <a:ext uri="{FF2B5EF4-FFF2-40B4-BE49-F238E27FC236}">
                <a16:creationId xmlns:a16="http://schemas.microsoft.com/office/drawing/2014/main" id="{2933C606-9F1F-16FF-664C-7D4E60992427}"/>
              </a:ext>
            </a:extLst>
          </p:cNvPr>
          <p:cNvSpPr txBox="1"/>
          <p:nvPr/>
        </p:nvSpPr>
        <p:spPr>
          <a:xfrm>
            <a:off x="1177445" y="309693"/>
            <a:ext cx="1696298" cy="430887"/>
          </a:xfrm>
          <a:prstGeom prst="rect">
            <a:avLst/>
          </a:prstGeom>
          <a:noFill/>
        </p:spPr>
        <p:txBody>
          <a:bodyPr wrap="none" rtlCol="0">
            <a:spAutoFit/>
          </a:bodyPr>
          <a:lstStyle/>
          <a:p>
            <a:r>
              <a:rPr lang="en-IN" sz="2200" dirty="0">
                <a:solidFill>
                  <a:srgbClr val="1F1F1F"/>
                </a:solidFill>
                <a:latin typeface="Source Sans Pro Light" panose="020B0403030403020204" pitchFamily="34" charset="0"/>
                <a:ea typeface="Source Sans Pro Light" panose="020B0403030403020204" pitchFamily="34" charset="0"/>
              </a:rPr>
              <a:t>Case Study 2 </a:t>
            </a:r>
            <a:endParaRPr lang="en-US" sz="2200" dirty="0">
              <a:solidFill>
                <a:srgbClr val="1F1F1F"/>
              </a:solidFill>
              <a:latin typeface="Source Sans Pro Light" panose="020B0403030403020204" pitchFamily="34" charset="0"/>
              <a:ea typeface="Source Sans Pro Light" panose="020B0403030403020204" pitchFamily="34" charset="0"/>
            </a:endParaRPr>
          </a:p>
        </p:txBody>
      </p:sp>
      <p:sp>
        <p:nvSpPr>
          <p:cNvPr id="36" name="TextBox 35">
            <a:extLst>
              <a:ext uri="{FF2B5EF4-FFF2-40B4-BE49-F238E27FC236}">
                <a16:creationId xmlns:a16="http://schemas.microsoft.com/office/drawing/2014/main" id="{4FCEAF0F-09FF-6D5D-400F-6E3FCA7A3E66}"/>
              </a:ext>
            </a:extLst>
          </p:cNvPr>
          <p:cNvSpPr txBox="1"/>
          <p:nvPr/>
        </p:nvSpPr>
        <p:spPr>
          <a:xfrm>
            <a:off x="1177445" y="722884"/>
            <a:ext cx="9666429" cy="461665"/>
          </a:xfrm>
          <a:prstGeom prst="rect">
            <a:avLst/>
          </a:prstGeom>
          <a:noFill/>
        </p:spPr>
        <p:txBody>
          <a:bodyPr wrap="none" rtlCol="0">
            <a:spAutoFit/>
          </a:bodyPr>
          <a:lstStyle/>
          <a:p>
            <a:r>
              <a:rPr lang="en-IN" sz="2400" dirty="0">
                <a:latin typeface="Source Sans Pro SemiBold" panose="020B0603030403020204" pitchFamily="34" charset="0"/>
                <a:ea typeface="Source Sans Pro SemiBold" panose="020B0603030403020204" pitchFamily="34" charset="0"/>
              </a:rPr>
              <a:t>Employee Engagement App - Internal Platform</a:t>
            </a:r>
            <a:r>
              <a:rPr lang="en-IN" sz="2400" b="1" dirty="0">
                <a:latin typeface="Source Sans Pro SemiBold" panose="020B0603030403020204" pitchFamily="34" charset="0"/>
                <a:ea typeface="Source Sans Pro SemiBold" panose="020B0603030403020204" pitchFamily="34" charset="0"/>
              </a:rPr>
              <a:t> (</a:t>
            </a:r>
            <a:r>
              <a:rPr lang="en-IN" sz="2400" dirty="0">
                <a:latin typeface="Source Sans Pro" panose="020B0503030403020204" pitchFamily="34" charset="0"/>
                <a:ea typeface="Source Sans Pro" panose="020B0503030403020204" pitchFamily="34" charset="0"/>
              </a:rPr>
              <a:t>Carelon Global Solutions)</a:t>
            </a:r>
            <a:endParaRPr lang="en-US" sz="2400" dirty="0">
              <a:solidFill>
                <a:srgbClr val="1F1F1F"/>
              </a:solidFill>
              <a:latin typeface="Source Sans Pro" panose="020B0503030403020204" pitchFamily="34" charset="0"/>
              <a:ea typeface="Source Sans Pro" panose="020B0503030403020204" pitchFamily="34" charset="0"/>
            </a:endParaRPr>
          </a:p>
        </p:txBody>
      </p:sp>
      <p:sp>
        <p:nvSpPr>
          <p:cNvPr id="37" name="TextBox 36">
            <a:extLst>
              <a:ext uri="{FF2B5EF4-FFF2-40B4-BE49-F238E27FC236}">
                <a16:creationId xmlns:a16="http://schemas.microsoft.com/office/drawing/2014/main" id="{4F720379-CDE1-1771-6895-ACD1768D5236}"/>
              </a:ext>
            </a:extLst>
          </p:cNvPr>
          <p:cNvSpPr txBox="1"/>
          <p:nvPr/>
        </p:nvSpPr>
        <p:spPr>
          <a:xfrm>
            <a:off x="1177445" y="1187844"/>
            <a:ext cx="5816977" cy="646331"/>
          </a:xfrm>
          <a:prstGeom prst="rect">
            <a:avLst/>
          </a:prstGeom>
          <a:noFill/>
        </p:spPr>
        <p:txBody>
          <a:bodyPr wrap="none" rtlCol="0">
            <a:spAutoFit/>
          </a:bodyPr>
          <a:lstStyle/>
          <a:p>
            <a:r>
              <a:rPr lang="en-IN" b="1" dirty="0">
                <a:latin typeface="Source Sans Pro SemiBold" panose="020B0603030403020204" pitchFamily="34" charset="0"/>
                <a:ea typeface="Source Sans Pro SemiBold" panose="020B0603030403020204" pitchFamily="34" charset="0"/>
              </a:rPr>
              <a:t>Role: </a:t>
            </a:r>
            <a:r>
              <a:rPr lang="en-IN" dirty="0">
                <a:latin typeface="Source Sans Pro" panose="020B0503030403020204" pitchFamily="34" charset="0"/>
                <a:ea typeface="Source Sans Pro" panose="020B0503030403020204" pitchFamily="34" charset="0"/>
              </a:rPr>
              <a:t>Design Team Lead - Brand &amp; Visual Communication</a:t>
            </a:r>
            <a:br>
              <a:rPr lang="en-IN" dirty="0">
                <a:latin typeface="Source Sans Pro" panose="020B0503030403020204" pitchFamily="34" charset="0"/>
                <a:ea typeface="Source Sans Pro" panose="020B0503030403020204" pitchFamily="34" charset="0"/>
              </a:rPr>
            </a:br>
            <a:r>
              <a:rPr lang="en-IN" b="1" dirty="0">
                <a:latin typeface="Source Sans Pro SemiBold" panose="020B0603030403020204" pitchFamily="34" charset="0"/>
                <a:ea typeface="Source Sans Pro SemiBold" panose="020B0603030403020204" pitchFamily="34" charset="0"/>
              </a:rPr>
              <a:t>Duration: </a:t>
            </a:r>
            <a:r>
              <a:rPr lang="en-IN" dirty="0">
                <a:latin typeface="Source Sans Pro" panose="020B0503030403020204" pitchFamily="34" charset="0"/>
                <a:ea typeface="Source Sans Pro" panose="020B0503030403020204" pitchFamily="34" charset="0"/>
              </a:rPr>
              <a:t>2021 – 2025</a:t>
            </a:r>
            <a:endParaRPr lang="en-US" dirty="0">
              <a:latin typeface="Source Sans Pro" panose="020B0503030403020204" pitchFamily="34" charset="0"/>
              <a:ea typeface="Source Sans Pro" panose="020B0503030403020204" pitchFamily="34" charset="0"/>
            </a:endParaRPr>
          </a:p>
        </p:txBody>
      </p:sp>
      <p:sp>
        <p:nvSpPr>
          <p:cNvPr id="4" name="TextBox 3">
            <a:extLst>
              <a:ext uri="{FF2B5EF4-FFF2-40B4-BE49-F238E27FC236}">
                <a16:creationId xmlns:a16="http://schemas.microsoft.com/office/drawing/2014/main" id="{D45C1250-9ADF-827E-51FA-6222AF2E2AA7}"/>
              </a:ext>
            </a:extLst>
          </p:cNvPr>
          <p:cNvSpPr txBox="1"/>
          <p:nvPr/>
        </p:nvSpPr>
        <p:spPr>
          <a:xfrm>
            <a:off x="1177445" y="6409868"/>
            <a:ext cx="6370655" cy="276999"/>
          </a:xfrm>
          <a:prstGeom prst="rect">
            <a:avLst/>
          </a:prstGeom>
          <a:noFill/>
        </p:spPr>
        <p:txBody>
          <a:bodyPr wrap="none" rtlCol="0">
            <a:spAutoFit/>
          </a:bodyPr>
          <a:lstStyle/>
          <a:p>
            <a:r>
              <a:rPr lang="en-IN" sz="1200" dirty="0">
                <a:solidFill>
                  <a:srgbClr val="1F1F1F"/>
                </a:solidFill>
                <a:latin typeface="Source Sans Pro Light" panose="020B0403030403020204" pitchFamily="34" charset="0"/>
                <a:ea typeface="Source Sans Pro Light" panose="020B0403030403020204" pitchFamily="34" charset="0"/>
              </a:rPr>
              <a:t>Due to NDA restrictions, visuals shown are recreated or abstracted. Original assets cannot be shared.</a:t>
            </a:r>
            <a:endParaRPr lang="en-US" sz="1200" dirty="0">
              <a:solidFill>
                <a:srgbClr val="1F1F1F"/>
              </a:solidFill>
              <a:latin typeface="Source Sans Pro Light" panose="020B0403030403020204" pitchFamily="34" charset="0"/>
              <a:ea typeface="Source Sans Pro Light" panose="020B0403030403020204" pitchFamily="34" charset="0"/>
            </a:endParaRPr>
          </a:p>
        </p:txBody>
      </p:sp>
      <p:sp>
        <p:nvSpPr>
          <p:cNvPr id="3" name="TextBox 2">
            <a:extLst>
              <a:ext uri="{FF2B5EF4-FFF2-40B4-BE49-F238E27FC236}">
                <a16:creationId xmlns:a16="http://schemas.microsoft.com/office/drawing/2014/main" id="{F0FC5F80-EFA7-C070-47F8-4B2EEE2FFC51}"/>
              </a:ext>
            </a:extLst>
          </p:cNvPr>
          <p:cNvSpPr txBox="1"/>
          <p:nvPr/>
        </p:nvSpPr>
        <p:spPr>
          <a:xfrm>
            <a:off x="1177445" y="2430786"/>
            <a:ext cx="9745252" cy="1077218"/>
          </a:xfrm>
          <a:prstGeom prst="rect">
            <a:avLst/>
          </a:prstGeom>
          <a:noFill/>
        </p:spPr>
        <p:txBody>
          <a:bodyPr wrap="square" rtlCol="0">
            <a:spAutoFit/>
          </a:bodyPr>
          <a:lstStyle/>
          <a:p>
            <a:pPr eaLnBrk="0" fontAlgn="base" hangingPunct="0">
              <a:spcBef>
                <a:spcPct val="0"/>
              </a:spcBef>
              <a:spcAft>
                <a:spcPts val="600"/>
              </a:spcAft>
            </a:pPr>
            <a:r>
              <a:rPr lang="en-IN" sz="1600" dirty="0">
                <a:latin typeface="Source Sans Pro" panose="020B0503030403020204" pitchFamily="34" charset="0"/>
                <a:ea typeface="Source Sans Pro" panose="020B0503030403020204" pitchFamily="34" charset="0"/>
              </a:rPr>
              <a:t>Carelon Global Solutions required a centralized internal employee engagement application to serve as a single platform for communication, events, and engagement initiatives across the organization. The platform needed to support diverse content formats and engagement use cases while remaining fully aligned with global brand standards and operating under strict internal and NDA constraints.</a:t>
            </a:r>
          </a:p>
        </p:txBody>
      </p:sp>
      <p:sp>
        <p:nvSpPr>
          <p:cNvPr id="6" name="TextBox 5">
            <a:extLst>
              <a:ext uri="{FF2B5EF4-FFF2-40B4-BE49-F238E27FC236}">
                <a16:creationId xmlns:a16="http://schemas.microsoft.com/office/drawing/2014/main" id="{601D424E-FD01-F4CF-0BF6-EA545C2C68A0}"/>
              </a:ext>
            </a:extLst>
          </p:cNvPr>
          <p:cNvSpPr txBox="1"/>
          <p:nvPr/>
        </p:nvSpPr>
        <p:spPr>
          <a:xfrm>
            <a:off x="1177444" y="4179771"/>
            <a:ext cx="9745252" cy="1877437"/>
          </a:xfrm>
          <a:prstGeom prst="rect">
            <a:avLst/>
          </a:prstGeom>
          <a:noFill/>
        </p:spPr>
        <p:txBody>
          <a:bodyPr wrap="square" rtlCol="0">
            <a:spAutoFit/>
          </a:bodyPr>
          <a:lstStyle/>
          <a:p>
            <a:pPr fontAlgn="base">
              <a:spcBef>
                <a:spcPct val="0"/>
              </a:spcBef>
              <a:spcAft>
                <a:spcPts val="600"/>
              </a:spcAft>
            </a:pPr>
            <a:r>
              <a:rPr lang="en-IN" sz="1600" dirty="0">
                <a:latin typeface="Source Sans Pro" panose="020B0503030403020204" pitchFamily="34" charset="0"/>
                <a:ea typeface="Source Sans Pro" panose="020B0503030403020204" pitchFamily="34" charset="0"/>
              </a:rPr>
              <a:t>The success of the platform depended on balancing flexibility with governance:</a:t>
            </a:r>
          </a:p>
          <a:p>
            <a:pPr marL="273050" indent="-123825" eaLnBrk="0" fontAlgn="base" hangingPunct="0">
              <a:spcBef>
                <a:spcPct val="0"/>
              </a:spcBef>
              <a:spcAft>
                <a:spcPts val="600"/>
              </a:spcAft>
              <a:buFontTx/>
              <a:buChar char="•"/>
            </a:pPr>
            <a:r>
              <a:rPr lang="en-IN" sz="1600" dirty="0">
                <a:latin typeface="Source Sans Pro" panose="020B0503030403020204" pitchFamily="34" charset="0"/>
                <a:ea typeface="Source Sans Pro" panose="020B0503030403020204" pitchFamily="34" charset="0"/>
              </a:rPr>
              <a:t>Multiple engagement use cases had to coexist within one unified experience</a:t>
            </a:r>
          </a:p>
          <a:p>
            <a:pPr marL="273050" indent="-123825" eaLnBrk="0" fontAlgn="base" hangingPunct="0">
              <a:spcBef>
                <a:spcPct val="0"/>
              </a:spcBef>
              <a:spcAft>
                <a:spcPts val="600"/>
              </a:spcAft>
              <a:buFontTx/>
              <a:buChar char="•"/>
            </a:pPr>
            <a:r>
              <a:rPr lang="en-IN" sz="1600" dirty="0">
                <a:latin typeface="Source Sans Pro" panose="020B0503030403020204" pitchFamily="34" charset="0"/>
                <a:ea typeface="Source Sans Pro" panose="020B0503030403020204" pitchFamily="34" charset="0"/>
              </a:rPr>
              <a:t>Global brand consistency had to be maintained across all modules and content types</a:t>
            </a:r>
          </a:p>
          <a:p>
            <a:pPr marL="273050" indent="-123825" eaLnBrk="0" fontAlgn="base" hangingPunct="0">
              <a:spcBef>
                <a:spcPct val="0"/>
              </a:spcBef>
              <a:spcAft>
                <a:spcPts val="600"/>
              </a:spcAft>
              <a:buFontTx/>
              <a:buChar char="•"/>
            </a:pPr>
            <a:r>
              <a:rPr lang="en-IN" sz="1600" dirty="0">
                <a:latin typeface="Source Sans Pro" panose="020B0503030403020204" pitchFamily="34" charset="0"/>
                <a:ea typeface="Source Sans Pro" panose="020B0503030403020204" pitchFamily="34" charset="0"/>
              </a:rPr>
              <a:t>Visual coordination was required across teams without exposing sensitive internal information</a:t>
            </a:r>
          </a:p>
          <a:p>
            <a:pPr eaLnBrk="0" fontAlgn="base" hangingPunct="0">
              <a:spcBef>
                <a:spcPct val="0"/>
              </a:spcBef>
              <a:spcAft>
                <a:spcPts val="300"/>
              </a:spcAft>
            </a:pPr>
            <a:r>
              <a:rPr lang="en-IN" sz="1600" dirty="0">
                <a:latin typeface="Source Sans Pro" panose="020B0503030403020204" pitchFamily="34" charset="0"/>
                <a:ea typeface="Source Sans Pro" panose="020B0503030403020204" pitchFamily="34" charset="0"/>
              </a:rPr>
              <a:t>Failure would have resulted in fragmented employee experiences, diluted brand expression, and reduced adoption of the platform as a trusted engagement channel.</a:t>
            </a:r>
          </a:p>
        </p:txBody>
      </p:sp>
      <p:sp>
        <p:nvSpPr>
          <p:cNvPr id="7" name="TextBox 6">
            <a:extLst>
              <a:ext uri="{FF2B5EF4-FFF2-40B4-BE49-F238E27FC236}">
                <a16:creationId xmlns:a16="http://schemas.microsoft.com/office/drawing/2014/main" id="{3669CA80-832C-B44B-39F1-BD8F14001E6F}"/>
              </a:ext>
            </a:extLst>
          </p:cNvPr>
          <p:cNvSpPr txBox="1"/>
          <p:nvPr/>
        </p:nvSpPr>
        <p:spPr>
          <a:xfrm>
            <a:off x="1177445" y="2023781"/>
            <a:ext cx="1107996" cy="400110"/>
          </a:xfrm>
          <a:prstGeom prst="rect">
            <a:avLst/>
          </a:prstGeom>
          <a:noFill/>
        </p:spPr>
        <p:txBody>
          <a:bodyPr wrap="none" rtlCol="0">
            <a:spAutoFit/>
          </a:bodyPr>
          <a:lstStyle/>
          <a:p>
            <a:r>
              <a:rPr lang="en-IN" sz="2000" dirty="0">
                <a:solidFill>
                  <a:srgbClr val="1F1F1F"/>
                </a:solidFill>
                <a:latin typeface="Source Sans Pro SemiBold" panose="020B0603030403020204" pitchFamily="34" charset="0"/>
                <a:ea typeface="Source Sans Pro SemiBold" panose="020B0603030403020204" pitchFamily="34" charset="0"/>
              </a:rPr>
              <a:t>Context </a:t>
            </a:r>
            <a:endParaRPr lang="en-US" sz="2000" dirty="0">
              <a:solidFill>
                <a:srgbClr val="1F1F1F"/>
              </a:solidFill>
              <a:latin typeface="Source Sans Pro SemiBold" panose="020B0603030403020204" pitchFamily="34" charset="0"/>
              <a:ea typeface="Source Sans Pro SemiBold" panose="020B0603030403020204" pitchFamily="34" charset="0"/>
            </a:endParaRPr>
          </a:p>
        </p:txBody>
      </p:sp>
      <p:sp>
        <p:nvSpPr>
          <p:cNvPr id="8" name="TextBox 7">
            <a:extLst>
              <a:ext uri="{FF2B5EF4-FFF2-40B4-BE49-F238E27FC236}">
                <a16:creationId xmlns:a16="http://schemas.microsoft.com/office/drawing/2014/main" id="{E5A9CC19-2EF0-4613-B2EA-9BD0D4B8AFC6}"/>
              </a:ext>
            </a:extLst>
          </p:cNvPr>
          <p:cNvSpPr txBox="1"/>
          <p:nvPr/>
        </p:nvSpPr>
        <p:spPr>
          <a:xfrm>
            <a:off x="1177444" y="3773214"/>
            <a:ext cx="2268570" cy="400110"/>
          </a:xfrm>
          <a:prstGeom prst="rect">
            <a:avLst/>
          </a:prstGeom>
          <a:noFill/>
        </p:spPr>
        <p:txBody>
          <a:bodyPr wrap="none" rtlCol="0">
            <a:spAutoFit/>
          </a:bodyPr>
          <a:lstStyle/>
          <a:p>
            <a:r>
              <a:rPr lang="en-US" sz="2000" dirty="0">
                <a:solidFill>
                  <a:srgbClr val="1F1F1F"/>
                </a:solidFill>
                <a:latin typeface="Source Sans Pro SemiBold" panose="020B0603030403020204" pitchFamily="34" charset="0"/>
                <a:ea typeface="Source Sans Pro SemiBold" panose="020B0603030403020204" pitchFamily="34" charset="0"/>
              </a:rPr>
              <a:t>What Was at Stake</a:t>
            </a:r>
            <a:r>
              <a:rPr lang="en-IN" sz="2000" dirty="0">
                <a:solidFill>
                  <a:srgbClr val="1F1F1F"/>
                </a:solidFill>
                <a:latin typeface="Source Sans Pro SemiBold" panose="020B0603030403020204" pitchFamily="34" charset="0"/>
                <a:ea typeface="Source Sans Pro SemiBold" panose="020B0603030403020204" pitchFamily="34" charset="0"/>
              </a:rPr>
              <a:t> </a:t>
            </a:r>
            <a:endParaRPr lang="en-US" sz="2000" dirty="0">
              <a:solidFill>
                <a:srgbClr val="1F1F1F"/>
              </a:solidFill>
              <a:latin typeface="Source Sans Pro SemiBold" panose="020B0603030403020204" pitchFamily="34" charset="0"/>
              <a:ea typeface="Source Sans Pro SemiBold" panose="020B0603030403020204" pitchFamily="34" charset="0"/>
            </a:endParaRPr>
          </a:p>
        </p:txBody>
      </p:sp>
    </p:spTree>
    <p:extLst>
      <p:ext uri="{BB962C8B-B14F-4D97-AF65-F5344CB8AC3E}">
        <p14:creationId xmlns:p14="http://schemas.microsoft.com/office/powerpoint/2010/main" val="493592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alpha val="10225"/>
          </a:schemeClr>
        </a:solidFill>
        <a:effectLst/>
      </p:bgPr>
    </p:bg>
    <p:spTree>
      <p:nvGrpSpPr>
        <p:cNvPr id="1" name="">
          <a:extLst>
            <a:ext uri="{FF2B5EF4-FFF2-40B4-BE49-F238E27FC236}">
              <a16:creationId xmlns:a16="http://schemas.microsoft.com/office/drawing/2014/main" id="{60895508-B2EF-FFA8-E290-2927BA4624C5}"/>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45F6DE1D-033A-0C48-8E54-25F556729EA0}"/>
              </a:ext>
            </a:extLst>
          </p:cNvPr>
          <p:cNvPicPr>
            <a:picLocks noChangeAspect="1"/>
          </p:cNvPicPr>
          <p:nvPr/>
        </p:nvPicPr>
        <p:blipFill>
          <a:blip r:embed="rId2">
            <a:alphaModFix amt="36000"/>
          </a:blip>
          <a:srcRect/>
          <a:stretch/>
        </p:blipFill>
        <p:spPr>
          <a:xfrm>
            <a:off x="1" y="-15249"/>
            <a:ext cx="12192250" cy="6857861"/>
          </a:xfrm>
          <a:prstGeom prst="rect">
            <a:avLst/>
          </a:prstGeom>
        </p:spPr>
      </p:pic>
      <p:pic>
        <p:nvPicPr>
          <p:cNvPr id="11" name="Picture 10" descr="A blue and green letter j&#10;&#10;AI-generated content may be incorrect.">
            <a:extLst>
              <a:ext uri="{FF2B5EF4-FFF2-40B4-BE49-F238E27FC236}">
                <a16:creationId xmlns:a16="http://schemas.microsoft.com/office/drawing/2014/main" id="{09BB1FA2-8E20-6E72-8032-715B9D536351}"/>
              </a:ext>
            </a:extLst>
          </p:cNvPr>
          <p:cNvPicPr>
            <a:picLocks noChangeAspect="1"/>
          </p:cNvPicPr>
          <p:nvPr/>
        </p:nvPicPr>
        <p:blipFill>
          <a:blip r:embed="rId3"/>
          <a:stretch>
            <a:fillRect/>
          </a:stretch>
        </p:blipFill>
        <p:spPr>
          <a:xfrm>
            <a:off x="464420" y="388307"/>
            <a:ext cx="430147" cy="430147"/>
          </a:xfrm>
          <a:prstGeom prst="rect">
            <a:avLst/>
          </a:prstGeom>
        </p:spPr>
      </p:pic>
      <p:sp>
        <p:nvSpPr>
          <p:cNvPr id="35" name="TextBox 34">
            <a:extLst>
              <a:ext uri="{FF2B5EF4-FFF2-40B4-BE49-F238E27FC236}">
                <a16:creationId xmlns:a16="http://schemas.microsoft.com/office/drawing/2014/main" id="{41623C1A-FD18-B0AD-6F4C-BA137B22AADC}"/>
              </a:ext>
            </a:extLst>
          </p:cNvPr>
          <p:cNvSpPr txBox="1"/>
          <p:nvPr/>
        </p:nvSpPr>
        <p:spPr>
          <a:xfrm>
            <a:off x="1177445" y="309693"/>
            <a:ext cx="1696298" cy="430887"/>
          </a:xfrm>
          <a:prstGeom prst="rect">
            <a:avLst/>
          </a:prstGeom>
          <a:noFill/>
        </p:spPr>
        <p:txBody>
          <a:bodyPr wrap="none" rtlCol="0">
            <a:spAutoFit/>
          </a:bodyPr>
          <a:lstStyle/>
          <a:p>
            <a:r>
              <a:rPr lang="en-IN" sz="2200" dirty="0">
                <a:solidFill>
                  <a:srgbClr val="1F1F1F"/>
                </a:solidFill>
                <a:latin typeface="Source Sans Pro Light" panose="020B0403030403020204" pitchFamily="34" charset="0"/>
                <a:ea typeface="Source Sans Pro Light" panose="020B0403030403020204" pitchFamily="34" charset="0"/>
              </a:rPr>
              <a:t>Case Study 2 </a:t>
            </a:r>
            <a:endParaRPr lang="en-US" sz="2200" dirty="0">
              <a:solidFill>
                <a:srgbClr val="1F1F1F"/>
              </a:solidFill>
              <a:latin typeface="Source Sans Pro Light" panose="020B0403030403020204" pitchFamily="34" charset="0"/>
              <a:ea typeface="Source Sans Pro Light" panose="020B0403030403020204" pitchFamily="34" charset="0"/>
            </a:endParaRPr>
          </a:p>
        </p:txBody>
      </p:sp>
      <p:sp>
        <p:nvSpPr>
          <p:cNvPr id="12" name="TextBox 11">
            <a:extLst>
              <a:ext uri="{FF2B5EF4-FFF2-40B4-BE49-F238E27FC236}">
                <a16:creationId xmlns:a16="http://schemas.microsoft.com/office/drawing/2014/main" id="{DF6A2752-D56B-138A-74B6-21F16D52CD4A}"/>
              </a:ext>
            </a:extLst>
          </p:cNvPr>
          <p:cNvSpPr txBox="1"/>
          <p:nvPr/>
        </p:nvSpPr>
        <p:spPr>
          <a:xfrm>
            <a:off x="1177445" y="6409868"/>
            <a:ext cx="6370655" cy="276999"/>
          </a:xfrm>
          <a:prstGeom prst="rect">
            <a:avLst/>
          </a:prstGeom>
          <a:noFill/>
        </p:spPr>
        <p:txBody>
          <a:bodyPr wrap="none" rtlCol="0">
            <a:spAutoFit/>
          </a:bodyPr>
          <a:lstStyle/>
          <a:p>
            <a:r>
              <a:rPr lang="en-IN" sz="1200" dirty="0">
                <a:solidFill>
                  <a:srgbClr val="1F1F1F"/>
                </a:solidFill>
                <a:latin typeface="Source Sans Pro Light" panose="020B0403030403020204" pitchFamily="34" charset="0"/>
                <a:ea typeface="Source Sans Pro Light" panose="020B0403030403020204" pitchFamily="34" charset="0"/>
              </a:rPr>
              <a:t>Due to NDA restrictions, visuals shown are recreated or abstracted. Original assets cannot be shared.</a:t>
            </a:r>
            <a:endParaRPr lang="en-US" sz="1200" dirty="0">
              <a:solidFill>
                <a:srgbClr val="1F1F1F"/>
              </a:solidFill>
              <a:latin typeface="Source Sans Pro Light" panose="020B0403030403020204" pitchFamily="34" charset="0"/>
              <a:ea typeface="Source Sans Pro Light" panose="020B0403030403020204" pitchFamily="34" charset="0"/>
            </a:endParaRPr>
          </a:p>
        </p:txBody>
      </p:sp>
      <p:sp>
        <p:nvSpPr>
          <p:cNvPr id="10" name="TextBox 9">
            <a:extLst>
              <a:ext uri="{FF2B5EF4-FFF2-40B4-BE49-F238E27FC236}">
                <a16:creationId xmlns:a16="http://schemas.microsoft.com/office/drawing/2014/main" id="{A2148426-0582-D17E-0749-B31E80F0A407}"/>
              </a:ext>
            </a:extLst>
          </p:cNvPr>
          <p:cNvSpPr txBox="1"/>
          <p:nvPr/>
        </p:nvSpPr>
        <p:spPr>
          <a:xfrm>
            <a:off x="1177445" y="1244848"/>
            <a:ext cx="1805302" cy="400110"/>
          </a:xfrm>
          <a:prstGeom prst="rect">
            <a:avLst/>
          </a:prstGeom>
          <a:noFill/>
        </p:spPr>
        <p:txBody>
          <a:bodyPr wrap="none" rtlCol="0">
            <a:spAutoFit/>
          </a:bodyPr>
          <a:lstStyle/>
          <a:p>
            <a:r>
              <a:rPr lang="en-US" sz="2000" dirty="0">
                <a:solidFill>
                  <a:srgbClr val="1F1F1F"/>
                </a:solidFill>
                <a:latin typeface="Source Sans Pro SemiBold" panose="020B0603030403020204" pitchFamily="34" charset="0"/>
                <a:ea typeface="Source Sans Pro SemiBold" panose="020B0603030403020204" pitchFamily="34" charset="0"/>
              </a:rPr>
              <a:t>My Ownership</a:t>
            </a:r>
            <a:r>
              <a:rPr lang="en-IN" sz="2000" dirty="0">
                <a:solidFill>
                  <a:srgbClr val="1F1F1F"/>
                </a:solidFill>
                <a:latin typeface="Source Sans Pro SemiBold" panose="020B0603030403020204" pitchFamily="34" charset="0"/>
                <a:ea typeface="Source Sans Pro SemiBold" panose="020B0603030403020204" pitchFamily="34" charset="0"/>
              </a:rPr>
              <a:t> </a:t>
            </a:r>
            <a:endParaRPr lang="en-US" sz="2000" dirty="0">
              <a:solidFill>
                <a:srgbClr val="1F1F1F"/>
              </a:solidFill>
              <a:latin typeface="Source Sans Pro SemiBold" panose="020B0603030403020204" pitchFamily="34" charset="0"/>
              <a:ea typeface="Source Sans Pro SemiBold" panose="020B0603030403020204" pitchFamily="34" charset="0"/>
            </a:endParaRPr>
          </a:p>
        </p:txBody>
      </p:sp>
      <p:sp>
        <p:nvSpPr>
          <p:cNvPr id="13" name="TextBox 12">
            <a:extLst>
              <a:ext uri="{FF2B5EF4-FFF2-40B4-BE49-F238E27FC236}">
                <a16:creationId xmlns:a16="http://schemas.microsoft.com/office/drawing/2014/main" id="{8E96FC0E-C77E-F579-07FD-E177FD37C576}"/>
              </a:ext>
            </a:extLst>
          </p:cNvPr>
          <p:cNvSpPr txBox="1"/>
          <p:nvPr/>
        </p:nvSpPr>
        <p:spPr>
          <a:xfrm>
            <a:off x="1177445" y="1604155"/>
            <a:ext cx="9745252" cy="1192634"/>
          </a:xfrm>
          <a:prstGeom prst="rect">
            <a:avLst/>
          </a:prstGeom>
          <a:noFill/>
        </p:spPr>
        <p:txBody>
          <a:bodyPr wrap="square" rtlCol="0">
            <a:spAutoFit/>
          </a:bodyPr>
          <a:lstStyle/>
          <a:p>
            <a:pPr eaLnBrk="0" fontAlgn="base" hangingPunct="0">
              <a:spcBef>
                <a:spcPct val="0"/>
              </a:spcBef>
              <a:spcAft>
                <a:spcPts val="300"/>
              </a:spcAft>
            </a:pPr>
            <a:r>
              <a:rPr lang="en-IN" sz="1600" dirty="0">
                <a:latin typeface="Source Sans Pro" panose="020B0503030403020204" pitchFamily="34" charset="0"/>
                <a:ea typeface="Source Sans Pro" panose="020B0503030403020204" pitchFamily="34" charset="0"/>
              </a:rPr>
              <a:t>I served as the design and brand owner for the employee engagement platform, accountable for:</a:t>
            </a:r>
          </a:p>
          <a:p>
            <a:pPr marL="273050" indent="-1238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Visual and brand governance across the application</a:t>
            </a:r>
          </a:p>
          <a:p>
            <a:pPr marL="273050" indent="-1238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End-to-end quality control of all visual assets</a:t>
            </a:r>
          </a:p>
          <a:p>
            <a:pPr marL="273050" indent="-1238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Coordinating delivery through my design team while aligning with Digital and Product stakeholders</a:t>
            </a:r>
          </a:p>
        </p:txBody>
      </p:sp>
      <p:sp>
        <p:nvSpPr>
          <p:cNvPr id="14" name="TextBox 13">
            <a:extLst>
              <a:ext uri="{FF2B5EF4-FFF2-40B4-BE49-F238E27FC236}">
                <a16:creationId xmlns:a16="http://schemas.microsoft.com/office/drawing/2014/main" id="{80F31052-6756-BB34-6B5B-760E9A0486BE}"/>
              </a:ext>
            </a:extLst>
          </p:cNvPr>
          <p:cNvSpPr txBox="1"/>
          <p:nvPr/>
        </p:nvSpPr>
        <p:spPr>
          <a:xfrm>
            <a:off x="1177444" y="2866919"/>
            <a:ext cx="2416046" cy="400110"/>
          </a:xfrm>
          <a:prstGeom prst="rect">
            <a:avLst/>
          </a:prstGeom>
          <a:noFill/>
        </p:spPr>
        <p:txBody>
          <a:bodyPr wrap="none" rtlCol="0">
            <a:spAutoFit/>
          </a:bodyPr>
          <a:lstStyle/>
          <a:p>
            <a:r>
              <a:rPr lang="en-IN" sz="2000" dirty="0">
                <a:solidFill>
                  <a:srgbClr val="1F1F1F"/>
                </a:solidFill>
                <a:latin typeface="Source Sans Pro SemiBold" panose="020B0603030403020204" pitchFamily="34" charset="0"/>
                <a:ea typeface="Source Sans Pro SemiBold" panose="020B0603030403020204" pitchFamily="34" charset="0"/>
              </a:rPr>
              <a:t>How I Approached It</a:t>
            </a:r>
          </a:p>
        </p:txBody>
      </p:sp>
      <p:sp>
        <p:nvSpPr>
          <p:cNvPr id="15" name="TextBox 14">
            <a:extLst>
              <a:ext uri="{FF2B5EF4-FFF2-40B4-BE49-F238E27FC236}">
                <a16:creationId xmlns:a16="http://schemas.microsoft.com/office/drawing/2014/main" id="{39CFB901-8FB5-FF36-12CC-89AE87887C5B}"/>
              </a:ext>
            </a:extLst>
          </p:cNvPr>
          <p:cNvSpPr txBox="1"/>
          <p:nvPr/>
        </p:nvSpPr>
        <p:spPr>
          <a:xfrm>
            <a:off x="1177443" y="3226226"/>
            <a:ext cx="10158611" cy="1438855"/>
          </a:xfrm>
          <a:prstGeom prst="rect">
            <a:avLst/>
          </a:prstGeom>
          <a:noFill/>
        </p:spPr>
        <p:txBody>
          <a:bodyPr wrap="square" rtlCol="0">
            <a:spAutoFit/>
          </a:bodyPr>
          <a:lstStyle/>
          <a:p>
            <a:pPr marL="136525" indent="-136525" eaLnBrk="0" fontAlgn="base" hangingPunct="0">
              <a:spcBef>
                <a:spcPct val="0"/>
              </a:spcBef>
              <a:spcAft>
                <a:spcPts val="300"/>
              </a:spcAft>
              <a:buFontTx/>
              <a:buChar char="•"/>
            </a:pPr>
            <a:r>
              <a:rPr lang="en-US" sz="1600" dirty="0">
                <a:latin typeface="Source Sans Pro" panose="020B0503030403020204" pitchFamily="34" charset="0"/>
                <a:ea typeface="Source Sans Pro" panose="020B0503030403020204" pitchFamily="34" charset="0"/>
              </a:rPr>
              <a:t>Partnered closely with the Digital and Product teams during platform development to embed brand standards into the design system</a:t>
            </a:r>
            <a:endParaRPr lang="en-IN" sz="1600" dirty="0">
              <a:latin typeface="Source Sans Pro" panose="020B0503030403020204" pitchFamily="34" charset="0"/>
              <a:ea typeface="Source Sans Pro" panose="020B0503030403020204" pitchFamily="34" charset="0"/>
            </a:endParaRPr>
          </a:p>
          <a:p>
            <a:pPr marL="136525" indent="-136525" eaLnBrk="0" fontAlgn="base" hangingPunct="0">
              <a:spcBef>
                <a:spcPct val="0"/>
              </a:spcBef>
              <a:spcAft>
                <a:spcPts val="300"/>
              </a:spcAft>
              <a:buFontTx/>
              <a:buChar char="•"/>
            </a:pPr>
            <a:r>
              <a:rPr lang="en-US" sz="1600" dirty="0">
                <a:latin typeface="Source Sans Pro" panose="020B0503030403020204" pitchFamily="34" charset="0"/>
                <a:ea typeface="Source Sans Pro" panose="020B0503030403020204" pitchFamily="34" charset="0"/>
              </a:rPr>
              <a:t>Acted as the brand guardian, defining the visual direction for the platform and all engagement modules</a:t>
            </a:r>
            <a:endParaRPr lang="en-IN" sz="1600" dirty="0">
              <a:latin typeface="Source Sans Pro" panose="020B0503030403020204" pitchFamily="34" charset="0"/>
              <a:ea typeface="Source Sans Pro" panose="020B0503030403020204" pitchFamily="34" charset="0"/>
            </a:endParaRPr>
          </a:p>
          <a:p>
            <a:pPr marL="136525" indent="-136525" eaLnBrk="0" fontAlgn="base" hangingPunct="0">
              <a:spcBef>
                <a:spcPct val="0"/>
              </a:spcBef>
              <a:spcAft>
                <a:spcPts val="300"/>
              </a:spcAft>
              <a:buFontTx/>
              <a:buChar char="•"/>
            </a:pPr>
            <a:r>
              <a:rPr lang="en-US" sz="1600" dirty="0">
                <a:latin typeface="Source Sans Pro" panose="020B0503030403020204" pitchFamily="34" charset="0"/>
                <a:ea typeface="Source Sans Pro" panose="020B0503030403020204" pitchFamily="34" charset="0"/>
              </a:rPr>
              <a:t>Led the creation, review, and approval of all visual assets, including images, videos, and event creatives</a:t>
            </a:r>
            <a:endParaRPr lang="en-IN" sz="1600" dirty="0">
              <a:latin typeface="Source Sans Pro" panose="020B0503030403020204" pitchFamily="34" charset="0"/>
              <a:ea typeface="Source Sans Pro" panose="020B0503030403020204" pitchFamily="34" charset="0"/>
            </a:endParaRPr>
          </a:p>
          <a:p>
            <a:pPr marL="136525" indent="-136525" eaLnBrk="0" fontAlgn="base" hangingPunct="0">
              <a:spcBef>
                <a:spcPct val="0"/>
              </a:spcBef>
              <a:spcAft>
                <a:spcPts val="300"/>
              </a:spcAft>
              <a:buFontTx/>
              <a:buChar char="•"/>
            </a:pPr>
            <a:r>
              <a:rPr lang="en-US" sz="1600" dirty="0">
                <a:latin typeface="Source Sans Pro" panose="020B0503030403020204" pitchFamily="34" charset="0"/>
                <a:ea typeface="Source Sans Pro" panose="020B0503030403020204" pitchFamily="34" charset="0"/>
              </a:rPr>
              <a:t>Structured design workflows to ensure consistent delivery at scale while operating within NDA constraints</a:t>
            </a:r>
            <a:endParaRPr lang="en-IN" sz="1600" dirty="0">
              <a:latin typeface="Source Sans Pro" panose="020B0503030403020204" pitchFamily="34" charset="0"/>
              <a:ea typeface="Source Sans Pro" panose="020B0503030403020204" pitchFamily="34" charset="0"/>
            </a:endParaRPr>
          </a:p>
        </p:txBody>
      </p:sp>
      <p:sp>
        <p:nvSpPr>
          <p:cNvPr id="16" name="TextBox 15">
            <a:extLst>
              <a:ext uri="{FF2B5EF4-FFF2-40B4-BE49-F238E27FC236}">
                <a16:creationId xmlns:a16="http://schemas.microsoft.com/office/drawing/2014/main" id="{AF3C91EE-B70D-7CF7-950E-80214950094A}"/>
              </a:ext>
            </a:extLst>
          </p:cNvPr>
          <p:cNvSpPr txBox="1"/>
          <p:nvPr/>
        </p:nvSpPr>
        <p:spPr>
          <a:xfrm>
            <a:off x="1177444" y="4743312"/>
            <a:ext cx="2242922" cy="400110"/>
          </a:xfrm>
          <a:prstGeom prst="rect">
            <a:avLst/>
          </a:prstGeom>
          <a:noFill/>
        </p:spPr>
        <p:txBody>
          <a:bodyPr wrap="none" rtlCol="0">
            <a:spAutoFit/>
          </a:bodyPr>
          <a:lstStyle/>
          <a:p>
            <a:r>
              <a:rPr lang="en-IN" sz="2000" dirty="0">
                <a:solidFill>
                  <a:srgbClr val="1F1F1F"/>
                </a:solidFill>
                <a:latin typeface="Source Sans Pro SemiBold" panose="020B0603030403020204" pitchFamily="34" charset="0"/>
                <a:ea typeface="Source Sans Pro SemiBold" panose="020B0603030403020204" pitchFamily="34" charset="0"/>
              </a:rPr>
              <a:t>Outcome &amp; Impact</a:t>
            </a:r>
          </a:p>
        </p:txBody>
      </p:sp>
      <p:sp>
        <p:nvSpPr>
          <p:cNvPr id="18" name="TextBox 17">
            <a:extLst>
              <a:ext uri="{FF2B5EF4-FFF2-40B4-BE49-F238E27FC236}">
                <a16:creationId xmlns:a16="http://schemas.microsoft.com/office/drawing/2014/main" id="{FCD8BC41-9141-8D0C-AB85-A62B36734602}"/>
              </a:ext>
            </a:extLst>
          </p:cNvPr>
          <p:cNvSpPr txBox="1"/>
          <p:nvPr/>
        </p:nvSpPr>
        <p:spPr>
          <a:xfrm>
            <a:off x="1177443" y="5160503"/>
            <a:ext cx="10158611" cy="1192634"/>
          </a:xfrm>
          <a:prstGeom prst="rect">
            <a:avLst/>
          </a:prstGeom>
          <a:noFill/>
        </p:spPr>
        <p:txBody>
          <a:bodyPr wrap="square" rtlCol="0">
            <a:spAutoFit/>
          </a:bodyPr>
          <a:lstStyle/>
          <a:p>
            <a:pPr marL="136525" lvl="0"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Delivered a cohesive, branded employee experience across all engagement touchpoints</a:t>
            </a:r>
          </a:p>
          <a:p>
            <a:pPr marL="136525" lvl="0"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Enabled scalable internal engagement through a single, unified platform</a:t>
            </a:r>
          </a:p>
          <a:p>
            <a:pPr marL="136525" lvl="0"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Improved visual clarity, consistency, and quality across events, communications, and multimedia content</a:t>
            </a:r>
          </a:p>
          <a:p>
            <a:pPr marL="136525" lvl="0"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Strengthened trust in the platform as a central channel for internal engagement</a:t>
            </a:r>
          </a:p>
        </p:txBody>
      </p:sp>
      <p:sp>
        <p:nvSpPr>
          <p:cNvPr id="19" name="TextBox 18">
            <a:extLst>
              <a:ext uri="{FF2B5EF4-FFF2-40B4-BE49-F238E27FC236}">
                <a16:creationId xmlns:a16="http://schemas.microsoft.com/office/drawing/2014/main" id="{42079E35-34DD-D33C-333E-90F0D43A781B}"/>
              </a:ext>
            </a:extLst>
          </p:cNvPr>
          <p:cNvSpPr txBox="1"/>
          <p:nvPr/>
        </p:nvSpPr>
        <p:spPr>
          <a:xfrm>
            <a:off x="1177445" y="722884"/>
            <a:ext cx="9666429" cy="461665"/>
          </a:xfrm>
          <a:prstGeom prst="rect">
            <a:avLst/>
          </a:prstGeom>
          <a:noFill/>
        </p:spPr>
        <p:txBody>
          <a:bodyPr wrap="none" rtlCol="0">
            <a:spAutoFit/>
          </a:bodyPr>
          <a:lstStyle/>
          <a:p>
            <a:r>
              <a:rPr lang="en-IN" sz="2400" dirty="0">
                <a:latin typeface="Source Sans Pro SemiBold" panose="020B0603030403020204" pitchFamily="34" charset="0"/>
                <a:ea typeface="Source Sans Pro SemiBold" panose="020B0603030403020204" pitchFamily="34" charset="0"/>
              </a:rPr>
              <a:t>Employee Engagement App - Internal Platform</a:t>
            </a:r>
            <a:r>
              <a:rPr lang="en-IN" sz="2400" b="1" dirty="0">
                <a:latin typeface="Source Sans Pro SemiBold" panose="020B0603030403020204" pitchFamily="34" charset="0"/>
                <a:ea typeface="Source Sans Pro SemiBold" panose="020B0603030403020204" pitchFamily="34" charset="0"/>
              </a:rPr>
              <a:t> (</a:t>
            </a:r>
            <a:r>
              <a:rPr lang="en-IN" sz="2400" dirty="0">
                <a:latin typeface="Source Sans Pro" panose="020B0503030403020204" pitchFamily="34" charset="0"/>
                <a:ea typeface="Source Sans Pro" panose="020B0503030403020204" pitchFamily="34" charset="0"/>
              </a:rPr>
              <a:t>Carelon Global Solutions)</a:t>
            </a:r>
            <a:endParaRPr lang="en-US" sz="2400" dirty="0">
              <a:solidFill>
                <a:srgbClr val="1F1F1F"/>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077953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alpha val="37693"/>
          </a:schemeClr>
        </a:solidFill>
        <a:effectLst/>
      </p:bgPr>
    </p:bg>
    <p:spTree>
      <p:nvGrpSpPr>
        <p:cNvPr id="1" name="">
          <a:extLst>
            <a:ext uri="{FF2B5EF4-FFF2-40B4-BE49-F238E27FC236}">
              <a16:creationId xmlns:a16="http://schemas.microsoft.com/office/drawing/2014/main" id="{14969816-D2CD-4BD9-CAB1-66CC1E874C6B}"/>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B17955BB-55FE-1786-9D7A-1667CA15D5E2}"/>
              </a:ext>
            </a:extLst>
          </p:cNvPr>
          <p:cNvPicPr>
            <a:picLocks noChangeAspect="1"/>
          </p:cNvPicPr>
          <p:nvPr/>
        </p:nvPicPr>
        <p:blipFill>
          <a:blip r:embed="rId2">
            <a:alphaModFix amt="36000"/>
          </a:blip>
          <a:srcRect/>
          <a:stretch/>
        </p:blipFill>
        <p:spPr>
          <a:xfrm>
            <a:off x="1" y="0"/>
            <a:ext cx="12192250" cy="6857861"/>
          </a:xfrm>
          <a:prstGeom prst="rect">
            <a:avLst/>
          </a:prstGeom>
        </p:spPr>
      </p:pic>
      <p:pic>
        <p:nvPicPr>
          <p:cNvPr id="11" name="Picture 10" descr="A blue and green letter j&#10;&#10;AI-generated content may be incorrect.">
            <a:extLst>
              <a:ext uri="{FF2B5EF4-FFF2-40B4-BE49-F238E27FC236}">
                <a16:creationId xmlns:a16="http://schemas.microsoft.com/office/drawing/2014/main" id="{D0E723B7-4FCE-F970-81F0-4B03E171AADF}"/>
              </a:ext>
            </a:extLst>
          </p:cNvPr>
          <p:cNvPicPr>
            <a:picLocks noChangeAspect="1"/>
          </p:cNvPicPr>
          <p:nvPr/>
        </p:nvPicPr>
        <p:blipFill>
          <a:blip r:embed="rId3"/>
          <a:stretch>
            <a:fillRect/>
          </a:stretch>
        </p:blipFill>
        <p:spPr>
          <a:xfrm>
            <a:off x="464420" y="388307"/>
            <a:ext cx="430147" cy="430147"/>
          </a:xfrm>
          <a:prstGeom prst="rect">
            <a:avLst/>
          </a:prstGeom>
        </p:spPr>
      </p:pic>
      <p:sp>
        <p:nvSpPr>
          <p:cNvPr id="35" name="TextBox 34">
            <a:extLst>
              <a:ext uri="{FF2B5EF4-FFF2-40B4-BE49-F238E27FC236}">
                <a16:creationId xmlns:a16="http://schemas.microsoft.com/office/drawing/2014/main" id="{5F000AE0-5C9A-F84F-F29F-A6BBC75DF525}"/>
              </a:ext>
            </a:extLst>
          </p:cNvPr>
          <p:cNvSpPr txBox="1"/>
          <p:nvPr/>
        </p:nvSpPr>
        <p:spPr>
          <a:xfrm>
            <a:off x="1177445" y="309693"/>
            <a:ext cx="1696298"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200" b="0" i="0" u="none" strike="noStrike" kern="1200" cap="none" spc="0" normalizeH="0" baseline="0" noProof="0" dirty="0">
                <a:ln>
                  <a:noFill/>
                </a:ln>
                <a:solidFill>
                  <a:srgbClr val="1F1F1F"/>
                </a:solidFill>
                <a:effectLst/>
                <a:uLnTx/>
                <a:uFillTx/>
                <a:latin typeface="Source Sans Pro Light" panose="020B0403030403020204" pitchFamily="34" charset="0"/>
                <a:ea typeface="Source Sans Pro Light" panose="020B0403030403020204" pitchFamily="34" charset="0"/>
                <a:cs typeface="+mn-cs"/>
              </a:rPr>
              <a:t>Case Study </a:t>
            </a:r>
            <a:r>
              <a:rPr lang="en-IN" sz="2200" dirty="0">
                <a:solidFill>
                  <a:srgbClr val="1F1F1F"/>
                </a:solidFill>
                <a:latin typeface="Source Sans Pro Light" panose="020B0403030403020204" pitchFamily="34" charset="0"/>
                <a:ea typeface="Source Sans Pro Light" panose="020B0403030403020204" pitchFamily="34" charset="0"/>
              </a:rPr>
              <a:t>3</a:t>
            </a:r>
            <a:r>
              <a:rPr kumimoji="0" lang="en-IN" sz="2200" b="0" i="0" u="none" strike="noStrike" kern="1200" cap="none" spc="0" normalizeH="0" baseline="0" noProof="0" dirty="0">
                <a:ln>
                  <a:noFill/>
                </a:ln>
                <a:solidFill>
                  <a:srgbClr val="1F1F1F"/>
                </a:solidFill>
                <a:effectLst/>
                <a:uLnTx/>
                <a:uFillTx/>
                <a:latin typeface="Source Sans Pro Light" panose="020B0403030403020204" pitchFamily="34" charset="0"/>
                <a:ea typeface="Source Sans Pro Light" panose="020B0403030403020204" pitchFamily="34" charset="0"/>
                <a:cs typeface="+mn-cs"/>
              </a:rPr>
              <a:t> </a:t>
            </a:r>
            <a:endParaRPr kumimoji="0" lang="en-US" sz="2200" b="0" i="0" u="none" strike="noStrike" kern="1200" cap="none" spc="0" normalizeH="0" baseline="0" noProof="0" dirty="0">
              <a:ln>
                <a:noFill/>
              </a:ln>
              <a:solidFill>
                <a:srgbClr val="1F1F1F"/>
              </a:solidFill>
              <a:effectLst/>
              <a:uLnTx/>
              <a:uFillTx/>
              <a:latin typeface="Source Sans Pro Light" panose="020B0403030403020204" pitchFamily="34" charset="0"/>
              <a:ea typeface="Source Sans Pro Light" panose="020B0403030403020204" pitchFamily="34" charset="0"/>
              <a:cs typeface="+mn-cs"/>
            </a:endParaRPr>
          </a:p>
        </p:txBody>
      </p:sp>
      <p:sp>
        <p:nvSpPr>
          <p:cNvPr id="36" name="TextBox 35">
            <a:extLst>
              <a:ext uri="{FF2B5EF4-FFF2-40B4-BE49-F238E27FC236}">
                <a16:creationId xmlns:a16="http://schemas.microsoft.com/office/drawing/2014/main" id="{DA6076D4-4055-109B-60BD-0A231E06A82A}"/>
              </a:ext>
            </a:extLst>
          </p:cNvPr>
          <p:cNvSpPr txBox="1"/>
          <p:nvPr/>
        </p:nvSpPr>
        <p:spPr>
          <a:xfrm>
            <a:off x="1177445" y="722884"/>
            <a:ext cx="10908756" cy="446276"/>
          </a:xfrm>
          <a:prstGeom prst="rect">
            <a:avLst/>
          </a:prstGeom>
          <a:noFill/>
        </p:spPr>
        <p:txBody>
          <a:bodyPr wrap="none" rtlCol="0">
            <a:spAutoFit/>
          </a:bodyPr>
          <a:lstStyle/>
          <a:p>
            <a:r>
              <a:rPr kumimoji="0" lang="en-IN" sz="2300" b="1" i="0" u="none" strike="noStrike" kern="1200" cap="none" spc="0" normalizeH="0" baseline="0" noProof="0" dirty="0">
                <a:ln>
                  <a:noFill/>
                </a:ln>
                <a:solidFill>
                  <a:prstClr val="black"/>
                </a:solidFill>
                <a:effectLst/>
                <a:uLnTx/>
                <a:uFillTx/>
                <a:latin typeface="Source Sans Pro SemiBold" panose="020B0603030403020204" pitchFamily="34" charset="0"/>
                <a:ea typeface="Source Sans Pro SemiBold" panose="020B0603030403020204" pitchFamily="34" charset="0"/>
                <a:cs typeface="+mn-cs"/>
              </a:rPr>
              <a:t>Brand Creation &amp; Multi-Channel Marketing Communication(</a:t>
            </a:r>
            <a:r>
              <a:rPr lang="en-IN" sz="2300" dirty="0">
                <a:solidFill>
                  <a:prstClr val="black"/>
                </a:solidFill>
                <a:latin typeface="Source Sans Pro" panose="020B0503030403020204" pitchFamily="34" charset="0"/>
                <a:ea typeface="Source Sans Pro" panose="020B0503030403020204" pitchFamily="34" charset="0"/>
              </a:rPr>
              <a:t>J</a:t>
            </a:r>
            <a:r>
              <a:rPr kumimoji="0" lang="en-IN" sz="2300" b="0" i="0" u="none" strike="noStrike" kern="1200" cap="none" spc="0" normalizeH="0" baseline="0" noProof="0" dirty="0">
                <a:ln>
                  <a:noFill/>
                </a:ln>
                <a:solidFill>
                  <a:prstClr val="black"/>
                </a:solidFill>
                <a:effectLst/>
                <a:uLnTx/>
                <a:uFillTx/>
                <a:latin typeface="Source Sans Pro" panose="020B0503030403020204" pitchFamily="34" charset="0"/>
                <a:ea typeface="Source Sans Pro" panose="020B0503030403020204" pitchFamily="34" charset="0"/>
                <a:cs typeface="+mn-cs"/>
              </a:rPr>
              <a:t>ana Small Finance Bank)</a:t>
            </a:r>
            <a:endParaRPr kumimoji="0" lang="en-US" sz="2300" b="0" i="0" u="none" strike="noStrike" kern="1200" cap="none" spc="0" normalizeH="0" baseline="0" noProof="0" dirty="0">
              <a:ln>
                <a:noFill/>
              </a:ln>
              <a:solidFill>
                <a:srgbClr val="1F1F1F"/>
              </a:solidFill>
              <a:effectLst/>
              <a:uLnTx/>
              <a:uFillTx/>
              <a:latin typeface="Source Sans Pro" panose="020B0503030403020204" pitchFamily="34" charset="0"/>
              <a:ea typeface="Source Sans Pro" panose="020B0503030403020204" pitchFamily="34" charset="0"/>
              <a:cs typeface="+mn-cs"/>
            </a:endParaRPr>
          </a:p>
        </p:txBody>
      </p:sp>
      <p:sp>
        <p:nvSpPr>
          <p:cNvPr id="37" name="TextBox 36">
            <a:extLst>
              <a:ext uri="{FF2B5EF4-FFF2-40B4-BE49-F238E27FC236}">
                <a16:creationId xmlns:a16="http://schemas.microsoft.com/office/drawing/2014/main" id="{1AF4DA10-F502-A3A8-6C06-6716D1315212}"/>
              </a:ext>
            </a:extLst>
          </p:cNvPr>
          <p:cNvSpPr txBox="1"/>
          <p:nvPr/>
        </p:nvSpPr>
        <p:spPr>
          <a:xfrm>
            <a:off x="1177445" y="1147684"/>
            <a:ext cx="6936322" cy="646331"/>
          </a:xfrm>
          <a:prstGeom prst="rect">
            <a:avLst/>
          </a:prstGeom>
          <a:noFill/>
        </p:spPr>
        <p:txBody>
          <a:bodyPr wrap="none" rtlCol="0">
            <a:spAutoFit/>
          </a:bodyPr>
          <a:lstStyle/>
          <a:p>
            <a:pPr lvl="0"/>
            <a:r>
              <a:rPr lang="en-IN" b="1" dirty="0">
                <a:latin typeface="Source Sans Pro SemiBold" panose="020B0603030403020204" pitchFamily="34" charset="0"/>
                <a:ea typeface="Source Sans Pro SemiBold" panose="020B0603030403020204" pitchFamily="34" charset="0"/>
              </a:rPr>
              <a:t>Role: </a:t>
            </a:r>
            <a:r>
              <a:rPr lang="en-IN" dirty="0">
                <a:latin typeface="Source Sans Pro" panose="020B0503030403020204" pitchFamily="34" charset="0"/>
                <a:ea typeface="Source Sans Pro" panose="020B0503030403020204" pitchFamily="34" charset="0"/>
              </a:rPr>
              <a:t>Senior Individual Contributor – Brand &amp; Visual Communication</a:t>
            </a:r>
            <a:br>
              <a:rPr lang="en-IN" dirty="0">
                <a:latin typeface="Source Sans Pro" panose="020B0503030403020204" pitchFamily="34" charset="0"/>
                <a:ea typeface="Source Sans Pro" panose="020B0503030403020204" pitchFamily="34" charset="0"/>
              </a:rPr>
            </a:br>
            <a:r>
              <a:rPr lang="en-IN" b="1" dirty="0">
                <a:latin typeface="Source Sans Pro SemiBold" panose="020B0603030403020204" pitchFamily="34" charset="0"/>
                <a:ea typeface="Source Sans Pro SemiBold" panose="020B0603030403020204" pitchFamily="34" charset="0"/>
              </a:rPr>
              <a:t>Duration: </a:t>
            </a:r>
            <a:r>
              <a:rPr lang="en-IN" dirty="0">
                <a:latin typeface="Source Sans Pro" panose="020B0503030403020204" pitchFamily="34" charset="0"/>
                <a:ea typeface="Source Sans Pro" panose="020B0503030403020204" pitchFamily="34" charset="0"/>
              </a:rPr>
              <a:t>2016 – 2021</a:t>
            </a:r>
            <a:endParaRPr lang="en-US" dirty="0">
              <a:solidFill>
                <a:prstClr val="black"/>
              </a:solidFill>
              <a:latin typeface="Source Sans Pro" panose="020B0503030403020204" pitchFamily="34" charset="0"/>
              <a:ea typeface="Source Sans Pro" panose="020B0503030403020204" pitchFamily="34" charset="0"/>
            </a:endParaRPr>
          </a:p>
        </p:txBody>
      </p:sp>
      <p:sp>
        <p:nvSpPr>
          <p:cNvPr id="38" name="TextBox 37">
            <a:extLst>
              <a:ext uri="{FF2B5EF4-FFF2-40B4-BE49-F238E27FC236}">
                <a16:creationId xmlns:a16="http://schemas.microsoft.com/office/drawing/2014/main" id="{0599A06C-0E77-8921-F897-A3852F368C6B}"/>
              </a:ext>
            </a:extLst>
          </p:cNvPr>
          <p:cNvSpPr txBox="1"/>
          <p:nvPr/>
        </p:nvSpPr>
        <p:spPr>
          <a:xfrm>
            <a:off x="1177445" y="1813756"/>
            <a:ext cx="1144865"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200" b="0" i="0" u="none" strike="noStrike" kern="1200" cap="none" spc="0" normalizeH="0" baseline="0" noProof="0" dirty="0">
                <a:ln>
                  <a:noFill/>
                </a:ln>
                <a:solidFill>
                  <a:srgbClr val="1F1F1F"/>
                </a:solidFill>
                <a:effectLst/>
                <a:uLnTx/>
                <a:uFillTx/>
                <a:latin typeface="Source Sans Pro SemiBold" panose="020B0603030403020204" pitchFamily="34" charset="0"/>
                <a:ea typeface="Source Sans Pro SemiBold" panose="020B0603030403020204" pitchFamily="34" charset="0"/>
                <a:cs typeface="+mn-cs"/>
              </a:rPr>
              <a:t>Context</a:t>
            </a:r>
            <a:endParaRPr kumimoji="0" lang="en-US" sz="2200" b="0" i="0" u="none" strike="noStrike" kern="1200" cap="none" spc="0" normalizeH="0" baseline="0" noProof="0" dirty="0">
              <a:ln>
                <a:noFill/>
              </a:ln>
              <a:solidFill>
                <a:srgbClr val="1F1F1F"/>
              </a:solidFill>
              <a:effectLst/>
              <a:uLnTx/>
              <a:uFillTx/>
              <a:latin typeface="Source Sans Pro SemiBold" panose="020B0603030403020204" pitchFamily="34" charset="0"/>
              <a:ea typeface="Source Sans Pro SemiBold" panose="020B0603030403020204" pitchFamily="34" charset="0"/>
              <a:cs typeface="+mn-cs"/>
            </a:endParaRPr>
          </a:p>
        </p:txBody>
      </p:sp>
      <p:sp>
        <p:nvSpPr>
          <p:cNvPr id="39" name="TextBox 38">
            <a:extLst>
              <a:ext uri="{FF2B5EF4-FFF2-40B4-BE49-F238E27FC236}">
                <a16:creationId xmlns:a16="http://schemas.microsoft.com/office/drawing/2014/main" id="{F951D65B-41E9-544F-3EDE-54E3B064B5DC}"/>
              </a:ext>
            </a:extLst>
          </p:cNvPr>
          <p:cNvSpPr txBox="1"/>
          <p:nvPr/>
        </p:nvSpPr>
        <p:spPr>
          <a:xfrm>
            <a:off x="1177445" y="2173063"/>
            <a:ext cx="10384078" cy="830997"/>
          </a:xfrm>
          <a:prstGeom prst="rect">
            <a:avLst/>
          </a:prstGeom>
          <a:noFill/>
        </p:spPr>
        <p:txBody>
          <a:bodyPr wrap="square" rtlCol="0">
            <a:spAutoFit/>
          </a:bodyPr>
          <a:lstStyle/>
          <a:p>
            <a:pPr eaLnBrk="0" fontAlgn="base" hangingPunct="0">
              <a:spcBef>
                <a:spcPct val="0"/>
              </a:spcBef>
              <a:spcAft>
                <a:spcPts val="600"/>
              </a:spcAft>
            </a:pPr>
            <a:r>
              <a:rPr lang="en-IN" sz="1600" dirty="0" err="1">
                <a:latin typeface="Source Sans Pro" panose="020B0503030403020204" pitchFamily="34" charset="0"/>
                <a:ea typeface="Source Sans Pro" panose="020B0503030403020204" pitchFamily="34" charset="0"/>
              </a:rPr>
              <a:t>Janalakshmi</a:t>
            </a:r>
            <a:r>
              <a:rPr lang="en-IN" sz="1600" dirty="0">
                <a:latin typeface="Source Sans Pro" panose="020B0503030403020204" pitchFamily="34" charset="0"/>
                <a:ea typeface="Source Sans Pro" panose="020B0503030403020204" pitchFamily="34" charset="0"/>
              </a:rPr>
              <a:t> Financial Services transitioned into Jana Small Finance Bank, requiring the creation of a new commercial banking brand. It involved building a complete brand identity system for a regulated financial institution, with visibility across customers, regulators, partners, and internal teams.</a:t>
            </a:r>
          </a:p>
        </p:txBody>
      </p:sp>
      <p:sp>
        <p:nvSpPr>
          <p:cNvPr id="40" name="TextBox 39">
            <a:extLst>
              <a:ext uri="{FF2B5EF4-FFF2-40B4-BE49-F238E27FC236}">
                <a16:creationId xmlns:a16="http://schemas.microsoft.com/office/drawing/2014/main" id="{97055C18-C78C-C1C6-9864-7A3D67030217}"/>
              </a:ext>
            </a:extLst>
          </p:cNvPr>
          <p:cNvSpPr txBox="1"/>
          <p:nvPr/>
        </p:nvSpPr>
        <p:spPr>
          <a:xfrm>
            <a:off x="1177444" y="3007636"/>
            <a:ext cx="2419252" cy="430887"/>
          </a:xfrm>
          <a:prstGeom prst="rect">
            <a:avLst/>
          </a:prstGeom>
          <a:noFill/>
        </p:spPr>
        <p:txBody>
          <a:bodyPr wrap="none" rtlCol="0">
            <a:spAutoFit/>
          </a:bodyPr>
          <a:lstStyle/>
          <a:p>
            <a:pPr>
              <a:defRPr/>
            </a:pPr>
            <a:r>
              <a:rPr lang="en-IN" sz="2200" dirty="0">
                <a:solidFill>
                  <a:srgbClr val="1F1F1F"/>
                </a:solidFill>
                <a:latin typeface="Source Sans Pro SemiBold" panose="020B0603030403020204" pitchFamily="34" charset="0"/>
                <a:ea typeface="Source Sans Pro SemiBold" panose="020B0603030403020204" pitchFamily="34" charset="0"/>
              </a:rPr>
              <a:t>What Was at Stake</a:t>
            </a:r>
          </a:p>
        </p:txBody>
      </p:sp>
      <p:sp>
        <p:nvSpPr>
          <p:cNvPr id="41" name="TextBox 40">
            <a:extLst>
              <a:ext uri="{FF2B5EF4-FFF2-40B4-BE49-F238E27FC236}">
                <a16:creationId xmlns:a16="http://schemas.microsoft.com/office/drawing/2014/main" id="{55BDDBEB-9C37-650C-000E-65329B4791C7}"/>
              </a:ext>
            </a:extLst>
          </p:cNvPr>
          <p:cNvSpPr txBox="1"/>
          <p:nvPr/>
        </p:nvSpPr>
        <p:spPr>
          <a:xfrm>
            <a:off x="1177444" y="3404521"/>
            <a:ext cx="9745252" cy="1477328"/>
          </a:xfrm>
          <a:prstGeom prst="rect">
            <a:avLst/>
          </a:prstGeom>
          <a:noFill/>
        </p:spPr>
        <p:txBody>
          <a:bodyPr wrap="square" rtlCol="0">
            <a:spAutoFit/>
          </a:bodyPr>
          <a:lstStyle/>
          <a:p>
            <a:pPr marL="136525" lvl="0" indent="-136525" eaLnBrk="0" fontAlgn="base" hangingPunct="0">
              <a:spcBef>
                <a:spcPct val="0"/>
              </a:spcBef>
              <a:spcAft>
                <a:spcPts val="200"/>
              </a:spcAft>
              <a:buFontTx/>
              <a:buChar char="•"/>
            </a:pPr>
            <a:r>
              <a:rPr lang="en-IN" sz="1600" dirty="0">
                <a:solidFill>
                  <a:prstClr val="black"/>
                </a:solidFill>
                <a:latin typeface="Source Sans Pro" panose="020B0503030403020204" pitchFamily="34" charset="0"/>
                <a:ea typeface="Source Sans Pro" panose="020B0503030403020204" pitchFamily="34" charset="0"/>
              </a:rPr>
              <a:t>Establishing trust and credibility for a newly licensed bank</a:t>
            </a:r>
          </a:p>
          <a:p>
            <a:pPr marL="136525" lvl="0" indent="-136525" eaLnBrk="0" fontAlgn="base" hangingPunct="0">
              <a:spcBef>
                <a:spcPct val="0"/>
              </a:spcBef>
              <a:spcAft>
                <a:spcPts val="200"/>
              </a:spcAft>
              <a:buFontTx/>
              <a:buChar char="•"/>
            </a:pPr>
            <a:r>
              <a:rPr lang="en-IN" sz="1600" dirty="0">
                <a:solidFill>
                  <a:prstClr val="black"/>
                </a:solidFill>
                <a:latin typeface="Source Sans Pro" panose="020B0503030403020204" pitchFamily="34" charset="0"/>
                <a:ea typeface="Source Sans Pro" panose="020B0503030403020204" pitchFamily="34" charset="0"/>
              </a:rPr>
              <a:t>Ensuring consistent brand execution across customer-facing, internal, and marketing touchpoints</a:t>
            </a:r>
          </a:p>
          <a:p>
            <a:pPr marL="136525" lvl="0" indent="-136525" eaLnBrk="0" fontAlgn="base" hangingPunct="0">
              <a:spcBef>
                <a:spcPct val="0"/>
              </a:spcBef>
              <a:spcAft>
                <a:spcPts val="200"/>
              </a:spcAft>
              <a:buFontTx/>
              <a:buChar char="•"/>
            </a:pPr>
            <a:r>
              <a:rPr lang="en-IN" sz="1600" dirty="0">
                <a:solidFill>
                  <a:prstClr val="black"/>
                </a:solidFill>
                <a:latin typeface="Source Sans Pro" panose="020B0503030403020204" pitchFamily="34" charset="0"/>
                <a:ea typeface="Source Sans Pro" panose="020B0503030403020204" pitchFamily="34" charset="0"/>
              </a:rPr>
              <a:t>Managing multilingual, multi-region communication without diluting brand integrity</a:t>
            </a:r>
          </a:p>
          <a:p>
            <a:pPr marL="136525" lvl="0" indent="-136525" eaLnBrk="0" fontAlgn="base" hangingPunct="0">
              <a:spcBef>
                <a:spcPct val="0"/>
              </a:spcBef>
              <a:spcAft>
                <a:spcPts val="600"/>
              </a:spcAft>
              <a:buFontTx/>
              <a:buChar char="•"/>
            </a:pPr>
            <a:r>
              <a:rPr lang="en-IN" sz="1600" dirty="0">
                <a:latin typeface="Source Sans Pro" panose="020B0503030403020204" pitchFamily="34" charset="0"/>
                <a:ea typeface="Source Sans Pro" panose="020B0503030403020204" pitchFamily="34" charset="0"/>
              </a:rPr>
              <a:t>Balancing creative expression with regulatory constraints typical of the banking sector</a:t>
            </a:r>
          </a:p>
          <a:p>
            <a:pPr eaLnBrk="0" fontAlgn="base" hangingPunct="0">
              <a:spcBef>
                <a:spcPct val="0"/>
              </a:spcBef>
              <a:spcAft>
                <a:spcPts val="600"/>
              </a:spcAft>
            </a:pPr>
            <a:r>
              <a:rPr lang="en-IN" sz="1600" dirty="0">
                <a:latin typeface="Source Sans Pro" panose="020B0503030403020204" pitchFamily="34" charset="0"/>
                <a:ea typeface="Source Sans Pro" panose="020B0503030403020204" pitchFamily="34" charset="0"/>
              </a:rPr>
              <a:t>Any inconsistency or misalignment risked regulatory issues, customer confusion, and brand dilution at launch.</a:t>
            </a:r>
          </a:p>
        </p:txBody>
      </p:sp>
      <p:sp>
        <p:nvSpPr>
          <p:cNvPr id="3" name="TextBox 2">
            <a:extLst>
              <a:ext uri="{FF2B5EF4-FFF2-40B4-BE49-F238E27FC236}">
                <a16:creationId xmlns:a16="http://schemas.microsoft.com/office/drawing/2014/main" id="{2E839FC0-278A-9C54-23D6-CB8A44A4B2FA}"/>
              </a:ext>
            </a:extLst>
          </p:cNvPr>
          <p:cNvSpPr txBox="1"/>
          <p:nvPr/>
        </p:nvSpPr>
        <p:spPr>
          <a:xfrm>
            <a:off x="1177445" y="4901341"/>
            <a:ext cx="1977014" cy="400110"/>
          </a:xfrm>
          <a:prstGeom prst="rect">
            <a:avLst/>
          </a:prstGeom>
          <a:noFill/>
        </p:spPr>
        <p:txBody>
          <a:bodyPr wrap="square" rtlCol="0">
            <a:spAutoFit/>
          </a:bodyPr>
          <a:lstStyle/>
          <a:p>
            <a:r>
              <a:rPr lang="en-US" sz="2000" dirty="0">
                <a:solidFill>
                  <a:srgbClr val="1F1F1F"/>
                </a:solidFill>
                <a:latin typeface="Source Sans Pro SemiBold" panose="020B0603030403020204" pitchFamily="34" charset="0"/>
                <a:ea typeface="Source Sans Pro SemiBold" panose="020B0603030403020204" pitchFamily="34" charset="0"/>
              </a:rPr>
              <a:t>My Ownership</a:t>
            </a:r>
            <a:r>
              <a:rPr lang="en-IN" sz="2000" dirty="0">
                <a:solidFill>
                  <a:srgbClr val="1F1F1F"/>
                </a:solidFill>
                <a:latin typeface="Source Sans Pro SemiBold" panose="020B0603030403020204" pitchFamily="34" charset="0"/>
                <a:ea typeface="Source Sans Pro SemiBold" panose="020B0603030403020204" pitchFamily="34" charset="0"/>
              </a:rPr>
              <a:t> </a:t>
            </a:r>
            <a:endParaRPr lang="en-US" sz="2000" dirty="0">
              <a:solidFill>
                <a:srgbClr val="1F1F1F"/>
              </a:solidFill>
              <a:latin typeface="Source Sans Pro SemiBold" panose="020B0603030403020204" pitchFamily="34" charset="0"/>
              <a:ea typeface="Source Sans Pro SemiBold" panose="020B0603030403020204" pitchFamily="34" charset="0"/>
            </a:endParaRPr>
          </a:p>
        </p:txBody>
      </p:sp>
      <p:sp>
        <p:nvSpPr>
          <p:cNvPr id="4" name="TextBox 3">
            <a:extLst>
              <a:ext uri="{FF2B5EF4-FFF2-40B4-BE49-F238E27FC236}">
                <a16:creationId xmlns:a16="http://schemas.microsoft.com/office/drawing/2014/main" id="{0CF37B0B-CD2F-F9A6-7AA0-B90B7E119850}"/>
              </a:ext>
            </a:extLst>
          </p:cNvPr>
          <p:cNvSpPr txBox="1"/>
          <p:nvPr/>
        </p:nvSpPr>
        <p:spPr>
          <a:xfrm>
            <a:off x="1177444" y="5260648"/>
            <a:ext cx="10672177" cy="1438855"/>
          </a:xfrm>
          <a:prstGeom prst="rect">
            <a:avLst/>
          </a:prstGeom>
          <a:noFill/>
        </p:spPr>
        <p:txBody>
          <a:bodyPr wrap="square" rtlCol="0">
            <a:spAutoFit/>
          </a:bodyPr>
          <a:lstStyle/>
          <a:p>
            <a:pPr eaLnBrk="0" fontAlgn="base" hangingPunct="0">
              <a:spcBef>
                <a:spcPct val="0"/>
              </a:spcBef>
              <a:spcAft>
                <a:spcPts val="300"/>
              </a:spcAft>
            </a:pPr>
            <a:r>
              <a:rPr lang="en-IN" sz="1600" dirty="0">
                <a:latin typeface="Source Sans Pro" panose="020B0503030403020204" pitchFamily="34" charset="0"/>
                <a:ea typeface="Source Sans Pro" panose="020B0503030403020204" pitchFamily="34" charset="0"/>
              </a:rPr>
              <a:t>As a Senior Individual Contributor within the Marketing &amp; Communication team, reporting to the Creative Head, I played a hands-on role in defining, executing, and sustaining the bank’s visual identity across channels. I was accountable for:</a:t>
            </a:r>
          </a:p>
          <a:p>
            <a:pPr marL="273050" lvl="0" indent="-1238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Translating brand strategy into executable design systems</a:t>
            </a:r>
          </a:p>
          <a:p>
            <a:pPr marL="273050" lvl="0" indent="-1238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Ensuring cross-channel and cross-region consistency</a:t>
            </a:r>
          </a:p>
          <a:p>
            <a:pPr marL="273050" lvl="0" indent="-1238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Acting as a bridge between internal teams and external agencies</a:t>
            </a:r>
          </a:p>
        </p:txBody>
      </p:sp>
    </p:spTree>
    <p:extLst>
      <p:ext uri="{BB962C8B-B14F-4D97-AF65-F5344CB8AC3E}">
        <p14:creationId xmlns:p14="http://schemas.microsoft.com/office/powerpoint/2010/main" val="1339023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alpha val="37693"/>
          </a:schemeClr>
        </a:solidFill>
        <a:effectLst/>
      </p:bgPr>
    </p:bg>
    <p:spTree>
      <p:nvGrpSpPr>
        <p:cNvPr id="1" name="">
          <a:extLst>
            <a:ext uri="{FF2B5EF4-FFF2-40B4-BE49-F238E27FC236}">
              <a16:creationId xmlns:a16="http://schemas.microsoft.com/office/drawing/2014/main" id="{4C6289B0-BCCF-03D2-C052-93F8F5D51806}"/>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AE42F6DF-B930-28A7-9A3F-DC3C99F965C4}"/>
              </a:ext>
            </a:extLst>
          </p:cNvPr>
          <p:cNvPicPr>
            <a:picLocks noChangeAspect="1"/>
          </p:cNvPicPr>
          <p:nvPr/>
        </p:nvPicPr>
        <p:blipFill>
          <a:blip r:embed="rId2">
            <a:alphaModFix amt="36000"/>
          </a:blip>
          <a:srcRect/>
          <a:stretch/>
        </p:blipFill>
        <p:spPr>
          <a:xfrm>
            <a:off x="1" y="0"/>
            <a:ext cx="12192250" cy="6857861"/>
          </a:xfrm>
          <a:prstGeom prst="rect">
            <a:avLst/>
          </a:prstGeom>
        </p:spPr>
      </p:pic>
      <p:pic>
        <p:nvPicPr>
          <p:cNvPr id="11" name="Picture 10" descr="A blue and green letter j&#10;&#10;AI-generated content may be incorrect.">
            <a:extLst>
              <a:ext uri="{FF2B5EF4-FFF2-40B4-BE49-F238E27FC236}">
                <a16:creationId xmlns:a16="http://schemas.microsoft.com/office/drawing/2014/main" id="{23E1B3BA-8B57-98DE-7F17-BD7FC3438720}"/>
              </a:ext>
            </a:extLst>
          </p:cNvPr>
          <p:cNvPicPr>
            <a:picLocks noChangeAspect="1"/>
          </p:cNvPicPr>
          <p:nvPr/>
        </p:nvPicPr>
        <p:blipFill>
          <a:blip r:embed="rId3"/>
          <a:stretch>
            <a:fillRect/>
          </a:stretch>
        </p:blipFill>
        <p:spPr>
          <a:xfrm>
            <a:off x="464420" y="388307"/>
            <a:ext cx="430147" cy="430147"/>
          </a:xfrm>
          <a:prstGeom prst="rect">
            <a:avLst/>
          </a:prstGeom>
        </p:spPr>
      </p:pic>
      <p:sp>
        <p:nvSpPr>
          <p:cNvPr id="22" name="TextBox 21">
            <a:extLst>
              <a:ext uri="{FF2B5EF4-FFF2-40B4-BE49-F238E27FC236}">
                <a16:creationId xmlns:a16="http://schemas.microsoft.com/office/drawing/2014/main" id="{FDA34565-D6DC-C07E-21DC-A7212CC8A713}"/>
              </a:ext>
            </a:extLst>
          </p:cNvPr>
          <p:cNvSpPr txBox="1"/>
          <p:nvPr/>
        </p:nvSpPr>
        <p:spPr>
          <a:xfrm>
            <a:off x="1177445" y="309693"/>
            <a:ext cx="1696298"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200" b="0" i="0" u="none" strike="noStrike" kern="1200" cap="none" spc="0" normalizeH="0" baseline="0" noProof="0" dirty="0">
                <a:ln>
                  <a:noFill/>
                </a:ln>
                <a:solidFill>
                  <a:srgbClr val="1F1F1F"/>
                </a:solidFill>
                <a:effectLst/>
                <a:uLnTx/>
                <a:uFillTx/>
                <a:latin typeface="Source Sans Pro Light" panose="020B0403030403020204" pitchFamily="34" charset="0"/>
                <a:ea typeface="Source Sans Pro Light" panose="020B0403030403020204" pitchFamily="34" charset="0"/>
                <a:cs typeface="+mn-cs"/>
              </a:rPr>
              <a:t>Case Study 3 </a:t>
            </a:r>
            <a:endParaRPr kumimoji="0" lang="en-US" sz="2200" b="0" i="0" u="none" strike="noStrike" kern="1200" cap="none" spc="0" normalizeH="0" baseline="0" noProof="0" dirty="0">
              <a:ln>
                <a:noFill/>
              </a:ln>
              <a:solidFill>
                <a:srgbClr val="1F1F1F"/>
              </a:solidFill>
              <a:effectLst/>
              <a:uLnTx/>
              <a:uFillTx/>
              <a:latin typeface="Source Sans Pro Light" panose="020B0403030403020204" pitchFamily="34" charset="0"/>
              <a:ea typeface="Source Sans Pro Light" panose="020B0403030403020204" pitchFamily="34" charset="0"/>
              <a:cs typeface="+mn-cs"/>
            </a:endParaRPr>
          </a:p>
        </p:txBody>
      </p:sp>
      <p:sp>
        <p:nvSpPr>
          <p:cNvPr id="8" name="TextBox 7">
            <a:extLst>
              <a:ext uri="{FF2B5EF4-FFF2-40B4-BE49-F238E27FC236}">
                <a16:creationId xmlns:a16="http://schemas.microsoft.com/office/drawing/2014/main" id="{7BC9D0EC-BF29-639D-31D6-51C8ED42B98C}"/>
              </a:ext>
            </a:extLst>
          </p:cNvPr>
          <p:cNvSpPr txBox="1"/>
          <p:nvPr/>
        </p:nvSpPr>
        <p:spPr>
          <a:xfrm>
            <a:off x="1177445" y="722884"/>
            <a:ext cx="10908756" cy="446276"/>
          </a:xfrm>
          <a:prstGeom prst="rect">
            <a:avLst/>
          </a:prstGeom>
          <a:noFill/>
        </p:spPr>
        <p:txBody>
          <a:bodyPr wrap="none" rtlCol="0">
            <a:spAutoFit/>
          </a:bodyPr>
          <a:lstStyle/>
          <a:p>
            <a:r>
              <a:rPr kumimoji="0" lang="en-IN" sz="2300" b="1" i="0" u="none" strike="noStrike" kern="1200" cap="none" spc="0" normalizeH="0" baseline="0" noProof="0" dirty="0">
                <a:ln>
                  <a:noFill/>
                </a:ln>
                <a:solidFill>
                  <a:prstClr val="black"/>
                </a:solidFill>
                <a:effectLst/>
                <a:uLnTx/>
                <a:uFillTx/>
                <a:latin typeface="Source Sans Pro SemiBold" panose="020B0603030403020204" pitchFamily="34" charset="0"/>
                <a:ea typeface="Source Sans Pro SemiBold" panose="020B0603030403020204" pitchFamily="34" charset="0"/>
                <a:cs typeface="+mn-cs"/>
              </a:rPr>
              <a:t>Brand Creation &amp; Multi-Channel Marketing Communication(</a:t>
            </a:r>
            <a:r>
              <a:rPr lang="en-IN" sz="2300" dirty="0">
                <a:solidFill>
                  <a:prstClr val="black"/>
                </a:solidFill>
                <a:latin typeface="Source Sans Pro" panose="020B0503030403020204" pitchFamily="34" charset="0"/>
                <a:ea typeface="Source Sans Pro" panose="020B0503030403020204" pitchFamily="34" charset="0"/>
              </a:rPr>
              <a:t>J</a:t>
            </a:r>
            <a:r>
              <a:rPr kumimoji="0" lang="en-IN" sz="2300" b="0" i="0" u="none" strike="noStrike" kern="1200" cap="none" spc="0" normalizeH="0" baseline="0" noProof="0" dirty="0">
                <a:ln>
                  <a:noFill/>
                </a:ln>
                <a:solidFill>
                  <a:prstClr val="black"/>
                </a:solidFill>
                <a:effectLst/>
                <a:uLnTx/>
                <a:uFillTx/>
                <a:latin typeface="Source Sans Pro" panose="020B0503030403020204" pitchFamily="34" charset="0"/>
                <a:ea typeface="Source Sans Pro" panose="020B0503030403020204" pitchFamily="34" charset="0"/>
                <a:cs typeface="+mn-cs"/>
              </a:rPr>
              <a:t>ana Small Finance Bank)</a:t>
            </a:r>
            <a:endParaRPr kumimoji="0" lang="en-US" sz="2300" b="0" i="0" u="none" strike="noStrike" kern="1200" cap="none" spc="0" normalizeH="0" baseline="0" noProof="0" dirty="0">
              <a:ln>
                <a:noFill/>
              </a:ln>
              <a:solidFill>
                <a:srgbClr val="1F1F1F"/>
              </a:solidFill>
              <a:effectLst/>
              <a:uLnTx/>
              <a:uFillTx/>
              <a:latin typeface="Source Sans Pro" panose="020B0503030403020204" pitchFamily="34" charset="0"/>
              <a:ea typeface="Source Sans Pro" panose="020B0503030403020204" pitchFamily="34" charset="0"/>
              <a:cs typeface="+mn-cs"/>
            </a:endParaRPr>
          </a:p>
        </p:txBody>
      </p:sp>
      <p:sp>
        <p:nvSpPr>
          <p:cNvPr id="9" name="TextBox 8">
            <a:extLst>
              <a:ext uri="{FF2B5EF4-FFF2-40B4-BE49-F238E27FC236}">
                <a16:creationId xmlns:a16="http://schemas.microsoft.com/office/drawing/2014/main" id="{D05D8116-1B4A-584B-8288-C1621B9FC4AF}"/>
              </a:ext>
            </a:extLst>
          </p:cNvPr>
          <p:cNvSpPr txBox="1"/>
          <p:nvPr/>
        </p:nvSpPr>
        <p:spPr>
          <a:xfrm>
            <a:off x="1177444" y="1388308"/>
            <a:ext cx="2416046" cy="400110"/>
          </a:xfrm>
          <a:prstGeom prst="rect">
            <a:avLst/>
          </a:prstGeom>
          <a:noFill/>
        </p:spPr>
        <p:txBody>
          <a:bodyPr wrap="none" rtlCol="0">
            <a:spAutoFit/>
          </a:bodyPr>
          <a:lstStyle/>
          <a:p>
            <a:r>
              <a:rPr lang="en-IN" sz="2000" dirty="0">
                <a:solidFill>
                  <a:srgbClr val="1F1F1F"/>
                </a:solidFill>
                <a:latin typeface="Source Sans Pro SemiBold" panose="020B0603030403020204" pitchFamily="34" charset="0"/>
                <a:ea typeface="Source Sans Pro SemiBold" panose="020B0603030403020204" pitchFamily="34" charset="0"/>
              </a:rPr>
              <a:t>How I Approached It</a:t>
            </a:r>
          </a:p>
        </p:txBody>
      </p:sp>
      <p:sp>
        <p:nvSpPr>
          <p:cNvPr id="10" name="TextBox 9">
            <a:extLst>
              <a:ext uri="{FF2B5EF4-FFF2-40B4-BE49-F238E27FC236}">
                <a16:creationId xmlns:a16="http://schemas.microsoft.com/office/drawing/2014/main" id="{89DAE354-6CEC-3648-9C24-688CA39008F5}"/>
              </a:ext>
            </a:extLst>
          </p:cNvPr>
          <p:cNvSpPr txBox="1"/>
          <p:nvPr/>
        </p:nvSpPr>
        <p:spPr>
          <a:xfrm>
            <a:off x="1177443" y="1747615"/>
            <a:ext cx="10659653" cy="2292935"/>
          </a:xfrm>
          <a:prstGeom prst="rect">
            <a:avLst/>
          </a:prstGeom>
          <a:noFill/>
        </p:spPr>
        <p:txBody>
          <a:bodyPr wrap="square" rtlCol="0">
            <a:spAutoFit/>
          </a:bodyPr>
          <a:lstStyle/>
          <a:p>
            <a:pPr marL="136525"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Partnered with a design agency to co-create the logo and master brand guidelines</a:t>
            </a:r>
          </a:p>
          <a:p>
            <a:pPr marL="136525"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Executed the brand identity across all banking documents, customer forms, and product collaterals</a:t>
            </a:r>
          </a:p>
          <a:p>
            <a:pPr marL="136525"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Designed multilingual communication assets across 9 regional languages, ensuring cultural and visual consistency</a:t>
            </a:r>
          </a:p>
          <a:p>
            <a:pPr marL="136525"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Collaborated with video advertising agencies on TV commercials, including campaigns featuring Indian cinema personalities</a:t>
            </a:r>
          </a:p>
          <a:p>
            <a:pPr marL="136525"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Contributed to large-scale outdoor advertising, including cricket stadium branding and BCCI digital perimeter ads</a:t>
            </a:r>
          </a:p>
          <a:p>
            <a:pPr marL="136525"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Planned and delivered customer feedback and testimonial videos, managing post-production workflows</a:t>
            </a:r>
          </a:p>
          <a:p>
            <a:pPr marL="136525"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Maintained close collaboration with content, marketing, and compliance stakeholders to ensure alignment at every stage</a:t>
            </a:r>
          </a:p>
        </p:txBody>
      </p:sp>
      <p:sp>
        <p:nvSpPr>
          <p:cNvPr id="12" name="TextBox 11">
            <a:extLst>
              <a:ext uri="{FF2B5EF4-FFF2-40B4-BE49-F238E27FC236}">
                <a16:creationId xmlns:a16="http://schemas.microsoft.com/office/drawing/2014/main" id="{EF1A4588-A744-E5FC-CE88-26177758E9E9}"/>
              </a:ext>
            </a:extLst>
          </p:cNvPr>
          <p:cNvSpPr txBox="1"/>
          <p:nvPr/>
        </p:nvSpPr>
        <p:spPr>
          <a:xfrm>
            <a:off x="1177444" y="4245418"/>
            <a:ext cx="2242922" cy="400110"/>
          </a:xfrm>
          <a:prstGeom prst="rect">
            <a:avLst/>
          </a:prstGeom>
          <a:noFill/>
        </p:spPr>
        <p:txBody>
          <a:bodyPr wrap="none" rtlCol="0">
            <a:spAutoFit/>
          </a:bodyPr>
          <a:lstStyle/>
          <a:p>
            <a:r>
              <a:rPr lang="en-IN" sz="2000" dirty="0">
                <a:solidFill>
                  <a:srgbClr val="1F1F1F"/>
                </a:solidFill>
                <a:latin typeface="Source Sans Pro SemiBold" panose="020B0603030403020204" pitchFamily="34" charset="0"/>
                <a:ea typeface="Source Sans Pro SemiBold" panose="020B0603030403020204" pitchFamily="34" charset="0"/>
              </a:rPr>
              <a:t>Outcome &amp; Impact</a:t>
            </a:r>
          </a:p>
        </p:txBody>
      </p:sp>
      <p:sp>
        <p:nvSpPr>
          <p:cNvPr id="13" name="TextBox 12">
            <a:extLst>
              <a:ext uri="{FF2B5EF4-FFF2-40B4-BE49-F238E27FC236}">
                <a16:creationId xmlns:a16="http://schemas.microsoft.com/office/drawing/2014/main" id="{F832ED34-6AA9-7915-7B06-AD2A142C2688}"/>
              </a:ext>
            </a:extLst>
          </p:cNvPr>
          <p:cNvSpPr txBox="1"/>
          <p:nvPr/>
        </p:nvSpPr>
        <p:spPr>
          <a:xfrm>
            <a:off x="1177443" y="4662609"/>
            <a:ext cx="10158611" cy="1477328"/>
          </a:xfrm>
          <a:prstGeom prst="rect">
            <a:avLst/>
          </a:prstGeom>
          <a:noFill/>
        </p:spPr>
        <p:txBody>
          <a:bodyPr wrap="square" rtlCol="0">
            <a:spAutoFit/>
          </a:bodyPr>
          <a:lstStyle/>
          <a:p>
            <a:pPr marL="136525" lvl="0"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Helped establish the visual foundation of a nationally operating commercial banking brand</a:t>
            </a:r>
          </a:p>
          <a:p>
            <a:pPr marL="136525" lvl="0"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Enabled consistent brand execution across products, regions, and media formats</a:t>
            </a:r>
          </a:p>
          <a:p>
            <a:pPr marL="136525" lvl="0"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Supported high-visibility campaigns spanning TV, outdoor, and digital channels</a:t>
            </a:r>
          </a:p>
          <a:p>
            <a:pPr marL="136525" lvl="0"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Ensured long-term brand consistency through sustained post-launch ownership</a:t>
            </a:r>
          </a:p>
          <a:p>
            <a:pPr marL="136525" lvl="0"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Reduced long-term dependency on external agencies, contributing to substantial cost savings over time</a:t>
            </a:r>
          </a:p>
        </p:txBody>
      </p:sp>
      <p:sp>
        <p:nvSpPr>
          <p:cNvPr id="14" name="TextBox 13">
            <a:extLst>
              <a:ext uri="{FF2B5EF4-FFF2-40B4-BE49-F238E27FC236}">
                <a16:creationId xmlns:a16="http://schemas.microsoft.com/office/drawing/2014/main" id="{91C32316-74B2-1C33-0865-70A5C1BE624D}"/>
              </a:ext>
            </a:extLst>
          </p:cNvPr>
          <p:cNvSpPr txBox="1"/>
          <p:nvPr/>
        </p:nvSpPr>
        <p:spPr>
          <a:xfrm>
            <a:off x="1177445" y="6409868"/>
            <a:ext cx="6370655" cy="276999"/>
          </a:xfrm>
          <a:prstGeom prst="rect">
            <a:avLst/>
          </a:prstGeom>
          <a:noFill/>
        </p:spPr>
        <p:txBody>
          <a:bodyPr wrap="none" rtlCol="0">
            <a:spAutoFit/>
          </a:bodyPr>
          <a:lstStyle/>
          <a:p>
            <a:r>
              <a:rPr lang="en-IN" sz="1200" dirty="0">
                <a:solidFill>
                  <a:srgbClr val="1F1F1F"/>
                </a:solidFill>
                <a:latin typeface="Source Sans Pro Light" panose="020B0403030403020204" pitchFamily="34" charset="0"/>
                <a:ea typeface="Source Sans Pro Light" panose="020B0403030403020204" pitchFamily="34" charset="0"/>
              </a:rPr>
              <a:t>Due to NDA restrictions, visuals shown are recreated or abstracted. Original assets cannot be shared.</a:t>
            </a:r>
            <a:endParaRPr lang="en-US" sz="1200" dirty="0">
              <a:solidFill>
                <a:srgbClr val="1F1F1F"/>
              </a:solidFill>
              <a:latin typeface="Source Sans Pro Light" panose="020B0403030403020204" pitchFamily="34" charset="0"/>
              <a:ea typeface="Source Sans Pro Light" panose="020B0403030403020204" pitchFamily="34" charset="0"/>
            </a:endParaRPr>
          </a:p>
        </p:txBody>
      </p:sp>
    </p:spTree>
    <p:extLst>
      <p:ext uri="{BB962C8B-B14F-4D97-AF65-F5344CB8AC3E}">
        <p14:creationId xmlns:p14="http://schemas.microsoft.com/office/powerpoint/2010/main" val="1218164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alpha val="10225"/>
          </a:schemeClr>
        </a:solidFill>
        <a:effectLst/>
      </p:bgPr>
    </p:bg>
    <p:spTree>
      <p:nvGrpSpPr>
        <p:cNvPr id="1" name="">
          <a:extLst>
            <a:ext uri="{FF2B5EF4-FFF2-40B4-BE49-F238E27FC236}">
              <a16:creationId xmlns:a16="http://schemas.microsoft.com/office/drawing/2014/main" id="{4AC1112B-F04F-47BC-C31B-BAD069689971}"/>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A96C216E-8025-40FB-6D89-C624D78D236A}"/>
              </a:ext>
            </a:extLst>
          </p:cNvPr>
          <p:cNvPicPr>
            <a:picLocks noChangeAspect="1"/>
          </p:cNvPicPr>
          <p:nvPr/>
        </p:nvPicPr>
        <p:blipFill>
          <a:blip r:embed="rId2">
            <a:alphaModFix amt="36000"/>
          </a:blip>
          <a:srcRect/>
          <a:stretch/>
        </p:blipFill>
        <p:spPr>
          <a:xfrm>
            <a:off x="1" y="-15249"/>
            <a:ext cx="12192250" cy="6857861"/>
          </a:xfrm>
          <a:prstGeom prst="rect">
            <a:avLst/>
          </a:prstGeom>
        </p:spPr>
      </p:pic>
      <p:pic>
        <p:nvPicPr>
          <p:cNvPr id="11" name="Picture 10" descr="A blue and green letter j&#10;&#10;AI-generated content may be incorrect.">
            <a:extLst>
              <a:ext uri="{FF2B5EF4-FFF2-40B4-BE49-F238E27FC236}">
                <a16:creationId xmlns:a16="http://schemas.microsoft.com/office/drawing/2014/main" id="{DF5FC189-941D-DD8B-064F-8D81FEE383D7}"/>
              </a:ext>
            </a:extLst>
          </p:cNvPr>
          <p:cNvPicPr>
            <a:picLocks noChangeAspect="1"/>
          </p:cNvPicPr>
          <p:nvPr/>
        </p:nvPicPr>
        <p:blipFill>
          <a:blip r:embed="rId3"/>
          <a:stretch>
            <a:fillRect/>
          </a:stretch>
        </p:blipFill>
        <p:spPr>
          <a:xfrm>
            <a:off x="464420" y="388307"/>
            <a:ext cx="430147" cy="430147"/>
          </a:xfrm>
          <a:prstGeom prst="rect">
            <a:avLst/>
          </a:prstGeom>
        </p:spPr>
      </p:pic>
      <p:sp>
        <p:nvSpPr>
          <p:cNvPr id="35" name="TextBox 34">
            <a:extLst>
              <a:ext uri="{FF2B5EF4-FFF2-40B4-BE49-F238E27FC236}">
                <a16:creationId xmlns:a16="http://schemas.microsoft.com/office/drawing/2014/main" id="{ED8745BE-3CF0-79D2-EB6C-1E00DDDC94B4}"/>
              </a:ext>
            </a:extLst>
          </p:cNvPr>
          <p:cNvSpPr txBox="1"/>
          <p:nvPr/>
        </p:nvSpPr>
        <p:spPr>
          <a:xfrm>
            <a:off x="1177445" y="309693"/>
            <a:ext cx="1696298"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200" b="0" i="0" u="none" strike="noStrike" kern="1200" cap="none" spc="0" normalizeH="0" baseline="0" noProof="0" dirty="0">
                <a:ln>
                  <a:noFill/>
                </a:ln>
                <a:solidFill>
                  <a:srgbClr val="1F1F1F"/>
                </a:solidFill>
                <a:effectLst/>
                <a:uLnTx/>
                <a:uFillTx/>
                <a:latin typeface="Source Sans Pro Light" panose="020B0403030403020204" pitchFamily="34" charset="0"/>
                <a:ea typeface="Source Sans Pro Light" panose="020B0403030403020204" pitchFamily="34" charset="0"/>
                <a:cs typeface="+mn-cs"/>
              </a:rPr>
              <a:t>Case Study 4 </a:t>
            </a:r>
            <a:endParaRPr kumimoji="0" lang="en-US" sz="2200" b="0" i="0" u="none" strike="noStrike" kern="1200" cap="none" spc="0" normalizeH="0" baseline="0" noProof="0" dirty="0">
              <a:ln>
                <a:noFill/>
              </a:ln>
              <a:solidFill>
                <a:srgbClr val="1F1F1F"/>
              </a:solidFill>
              <a:effectLst/>
              <a:uLnTx/>
              <a:uFillTx/>
              <a:latin typeface="Source Sans Pro Light" panose="020B0403030403020204" pitchFamily="34" charset="0"/>
              <a:ea typeface="Source Sans Pro Light" panose="020B0403030403020204" pitchFamily="34" charset="0"/>
              <a:cs typeface="+mn-cs"/>
            </a:endParaRPr>
          </a:p>
        </p:txBody>
      </p:sp>
      <p:sp>
        <p:nvSpPr>
          <p:cNvPr id="36" name="TextBox 35">
            <a:extLst>
              <a:ext uri="{FF2B5EF4-FFF2-40B4-BE49-F238E27FC236}">
                <a16:creationId xmlns:a16="http://schemas.microsoft.com/office/drawing/2014/main" id="{899D07E3-38CA-1952-2B2C-09F92A91DE42}"/>
              </a:ext>
            </a:extLst>
          </p:cNvPr>
          <p:cNvSpPr txBox="1"/>
          <p:nvPr/>
        </p:nvSpPr>
        <p:spPr>
          <a:xfrm>
            <a:off x="1177445" y="722884"/>
            <a:ext cx="9530173" cy="461665"/>
          </a:xfrm>
          <a:prstGeom prst="rect">
            <a:avLst/>
          </a:prstGeom>
          <a:noFill/>
        </p:spPr>
        <p:txBody>
          <a:bodyPr wrap="none" rtlCol="0">
            <a:spAutoFit/>
          </a:bodyPr>
          <a:lstStyle/>
          <a:p>
            <a:r>
              <a:rPr kumimoji="0" lang="en-IN" sz="2400" b="0" i="0" u="none" strike="noStrike" kern="1200" cap="none" spc="0" normalizeH="0" baseline="0" noProof="0" dirty="0">
                <a:ln>
                  <a:noFill/>
                </a:ln>
                <a:solidFill>
                  <a:prstClr val="black"/>
                </a:solidFill>
                <a:effectLst/>
                <a:uLnTx/>
                <a:uFillTx/>
                <a:latin typeface="Source Sans Pro SemiBold" panose="020B0603030403020204" pitchFamily="34" charset="0"/>
                <a:ea typeface="Source Sans Pro SemiBold" panose="020B0603030403020204" pitchFamily="34" charset="0"/>
                <a:cs typeface="+mn-cs"/>
              </a:rPr>
              <a:t>HRMS &amp; Payroll Platform</a:t>
            </a:r>
            <a:r>
              <a:rPr lang="en-IN" sz="2400" b="1" dirty="0">
                <a:solidFill>
                  <a:prstClr val="black"/>
                </a:solidFill>
                <a:latin typeface="Source Sans Pro SemiBold" panose="020B0603030403020204" pitchFamily="34" charset="0"/>
                <a:ea typeface="Source Sans Pro SemiBold" panose="020B0603030403020204" pitchFamily="34" charset="0"/>
              </a:rPr>
              <a:t> - </a:t>
            </a:r>
            <a:r>
              <a:rPr kumimoji="0" lang="en-IN" sz="2400" b="0" i="0" u="none" strike="noStrike" kern="1200" cap="none" spc="0" normalizeH="0" baseline="0" noProof="0" dirty="0">
                <a:ln>
                  <a:noFill/>
                </a:ln>
                <a:solidFill>
                  <a:prstClr val="black"/>
                </a:solidFill>
                <a:effectLst/>
                <a:uLnTx/>
                <a:uFillTx/>
                <a:latin typeface="Source Sans Pro" panose="020B0503030403020204" pitchFamily="34" charset="0"/>
                <a:ea typeface="Source Sans Pro" panose="020B0503030403020204" pitchFamily="34" charset="0"/>
                <a:cs typeface="+mn-cs"/>
              </a:rPr>
              <a:t>Enterprise Web &amp; Mobile UI Design (Freelance)</a:t>
            </a:r>
            <a:endParaRPr kumimoji="0" lang="en-US" sz="2400" b="0" i="0" u="none" strike="noStrike" kern="1200" cap="none" spc="0" normalizeH="0" baseline="0" noProof="0" dirty="0">
              <a:ln>
                <a:noFill/>
              </a:ln>
              <a:solidFill>
                <a:srgbClr val="1F1F1F"/>
              </a:solidFill>
              <a:effectLst/>
              <a:uLnTx/>
              <a:uFillTx/>
              <a:latin typeface="Source Sans Pro" panose="020B0503030403020204" pitchFamily="34" charset="0"/>
              <a:ea typeface="Source Sans Pro" panose="020B0503030403020204" pitchFamily="34" charset="0"/>
              <a:cs typeface="+mn-cs"/>
            </a:endParaRPr>
          </a:p>
        </p:txBody>
      </p:sp>
      <p:sp>
        <p:nvSpPr>
          <p:cNvPr id="37" name="TextBox 36">
            <a:extLst>
              <a:ext uri="{FF2B5EF4-FFF2-40B4-BE49-F238E27FC236}">
                <a16:creationId xmlns:a16="http://schemas.microsoft.com/office/drawing/2014/main" id="{8DDEB41B-E673-A0A8-70D6-0570E1AAFCAD}"/>
              </a:ext>
            </a:extLst>
          </p:cNvPr>
          <p:cNvSpPr txBox="1"/>
          <p:nvPr/>
        </p:nvSpPr>
        <p:spPr>
          <a:xfrm>
            <a:off x="1177445" y="1208962"/>
            <a:ext cx="4389343" cy="923330"/>
          </a:xfrm>
          <a:prstGeom prst="rect">
            <a:avLst/>
          </a:prstGeom>
          <a:noFill/>
        </p:spPr>
        <p:txBody>
          <a:bodyPr wrap="none" rtlCol="0">
            <a:spAutoFit/>
          </a:bodyPr>
          <a:lstStyle/>
          <a:p>
            <a:r>
              <a:rPr lang="en-IN" b="1" dirty="0">
                <a:solidFill>
                  <a:prstClr val="black"/>
                </a:solidFill>
                <a:latin typeface="Source Sans Pro SemiBold" panose="020B0603030403020204" pitchFamily="34" charset="0"/>
                <a:ea typeface="Source Sans Pro SemiBold" panose="020B0603030403020204" pitchFamily="34" charset="0"/>
              </a:rPr>
              <a:t>Client: </a:t>
            </a:r>
            <a:r>
              <a:rPr lang="en-IN" dirty="0">
                <a:solidFill>
                  <a:prstClr val="black"/>
                </a:solidFill>
                <a:latin typeface="Source Sans Pro" panose="020B0503030403020204" pitchFamily="34" charset="0"/>
                <a:ea typeface="Source Sans Pro" panose="020B0503030403020204" pitchFamily="34" charset="0"/>
              </a:rPr>
              <a:t>560 Degree Solutions</a:t>
            </a:r>
            <a:endParaRPr kumimoji="0" lang="en-IN" sz="1800" b="1" i="0" u="none" strike="noStrike" kern="1200" cap="none" spc="0" normalizeH="0" baseline="0" noProof="0" dirty="0">
              <a:ln>
                <a:noFill/>
              </a:ln>
              <a:solidFill>
                <a:prstClr val="black"/>
              </a:solidFill>
              <a:effectLst/>
              <a:uLnTx/>
              <a:uFillTx/>
              <a:latin typeface="Source Sans Pro SemiBold" panose="020B0603030403020204" pitchFamily="34" charset="0"/>
              <a:ea typeface="Source Sans Pro SemiBold" panose="020B0603030403020204" pitchFamily="34" charset="0"/>
              <a:cs typeface="+mn-cs"/>
            </a:endParaRPr>
          </a:p>
          <a:p>
            <a:pPr lvl="0"/>
            <a:r>
              <a:rPr kumimoji="0" lang="en-IN" sz="1800" b="1" i="0" u="none" strike="noStrike" kern="1200" cap="none" spc="0" normalizeH="0" baseline="0" noProof="0" dirty="0">
                <a:ln>
                  <a:noFill/>
                </a:ln>
                <a:solidFill>
                  <a:prstClr val="black"/>
                </a:solidFill>
                <a:effectLst/>
                <a:uLnTx/>
                <a:uFillTx/>
                <a:latin typeface="Source Sans Pro SemiBold" panose="020B0603030403020204" pitchFamily="34" charset="0"/>
                <a:ea typeface="Source Sans Pro SemiBold" panose="020B0603030403020204" pitchFamily="34" charset="0"/>
                <a:cs typeface="+mn-cs"/>
              </a:rPr>
              <a:t>Role: </a:t>
            </a:r>
            <a:r>
              <a:rPr lang="en-IN" dirty="0">
                <a:solidFill>
                  <a:prstClr val="black"/>
                </a:solidFill>
                <a:latin typeface="Source Sans Pro" panose="020B0503030403020204" pitchFamily="34" charset="0"/>
                <a:ea typeface="Source Sans Pro" panose="020B0503030403020204" pitchFamily="34" charset="0"/>
              </a:rPr>
              <a:t>Senior Visual / UI Designer (Freelance)</a:t>
            </a:r>
            <a:br>
              <a:rPr lang="en-IN" dirty="0">
                <a:solidFill>
                  <a:prstClr val="black"/>
                </a:solidFill>
                <a:latin typeface="Source Sans Pro" panose="020B0503030403020204" pitchFamily="34" charset="0"/>
                <a:ea typeface="Source Sans Pro" panose="020B0503030403020204" pitchFamily="34" charset="0"/>
              </a:rPr>
            </a:br>
            <a:r>
              <a:rPr kumimoji="0" lang="en-IN" sz="1800" b="1" i="0" u="none" strike="noStrike" kern="1200" cap="none" spc="0" normalizeH="0" baseline="0" noProof="0" dirty="0">
                <a:ln>
                  <a:noFill/>
                </a:ln>
                <a:solidFill>
                  <a:prstClr val="black"/>
                </a:solidFill>
                <a:effectLst/>
                <a:uLnTx/>
                <a:uFillTx/>
                <a:latin typeface="Source Sans Pro SemiBold" panose="020B0603030403020204" pitchFamily="34" charset="0"/>
                <a:ea typeface="Source Sans Pro SemiBold" panose="020B0603030403020204" pitchFamily="34" charset="0"/>
                <a:cs typeface="+mn-cs"/>
              </a:rPr>
              <a:t>Duration: </a:t>
            </a:r>
            <a:r>
              <a:rPr lang="en-IN" dirty="0">
                <a:solidFill>
                  <a:prstClr val="black"/>
                </a:solidFill>
                <a:latin typeface="Source Sans Pro" panose="020B0503030403020204" pitchFamily="34" charset="0"/>
                <a:ea typeface="Source Sans Pro" panose="020B0503030403020204" pitchFamily="34" charset="0"/>
              </a:rPr>
              <a:t>Aug 2025</a:t>
            </a:r>
            <a:r>
              <a:rPr kumimoji="0" lang="en-IN" sz="1800" b="0" i="0" u="none" strike="noStrike" kern="1200" cap="none" spc="0" normalizeH="0" baseline="0" noProof="0" dirty="0">
                <a:ln>
                  <a:noFill/>
                </a:ln>
                <a:solidFill>
                  <a:prstClr val="black"/>
                </a:solidFill>
                <a:effectLst/>
                <a:uLnTx/>
                <a:uFillTx/>
                <a:latin typeface="Source Sans Pro" panose="020B0503030403020204" pitchFamily="34" charset="0"/>
                <a:ea typeface="Source Sans Pro" panose="020B0503030403020204" pitchFamily="34" charset="0"/>
                <a:cs typeface="+mn-cs"/>
              </a:rPr>
              <a:t> – </a:t>
            </a:r>
            <a:r>
              <a:rPr lang="en-IN" dirty="0">
                <a:solidFill>
                  <a:prstClr val="black"/>
                </a:solidFill>
                <a:latin typeface="Source Sans Pro" panose="020B0503030403020204" pitchFamily="34" charset="0"/>
                <a:ea typeface="Source Sans Pro" panose="020B0503030403020204" pitchFamily="34" charset="0"/>
              </a:rPr>
              <a:t>Nov 20</a:t>
            </a:r>
            <a:r>
              <a:rPr kumimoji="0" lang="en-IN" sz="1800" b="0" i="0" u="none" strike="noStrike" kern="1200" cap="none" spc="0" normalizeH="0" baseline="0" noProof="0" dirty="0">
                <a:ln>
                  <a:noFill/>
                </a:ln>
                <a:solidFill>
                  <a:prstClr val="black"/>
                </a:solidFill>
                <a:effectLst/>
                <a:uLnTx/>
                <a:uFillTx/>
                <a:latin typeface="Source Sans Pro" panose="020B0503030403020204" pitchFamily="34" charset="0"/>
                <a:ea typeface="Source Sans Pro" panose="020B0503030403020204" pitchFamily="34" charset="0"/>
                <a:cs typeface="+mn-cs"/>
              </a:rPr>
              <a:t>25</a:t>
            </a:r>
            <a:endParaRPr kumimoji="0" lang="en-US" sz="1800" b="0" i="0" u="none" strike="noStrike" kern="1200" cap="none" spc="0" normalizeH="0" baseline="0" noProof="0" dirty="0">
              <a:ln>
                <a:noFill/>
              </a:ln>
              <a:solidFill>
                <a:prstClr val="black"/>
              </a:solidFill>
              <a:effectLst/>
              <a:uLnTx/>
              <a:uFillTx/>
              <a:latin typeface="Source Sans Pro" panose="020B0503030403020204" pitchFamily="34" charset="0"/>
              <a:ea typeface="Source Sans Pro" panose="020B0503030403020204" pitchFamily="34" charset="0"/>
              <a:cs typeface="+mn-cs"/>
            </a:endParaRPr>
          </a:p>
        </p:txBody>
      </p:sp>
      <p:sp>
        <p:nvSpPr>
          <p:cNvPr id="38" name="TextBox 37">
            <a:extLst>
              <a:ext uri="{FF2B5EF4-FFF2-40B4-BE49-F238E27FC236}">
                <a16:creationId xmlns:a16="http://schemas.microsoft.com/office/drawing/2014/main" id="{D7A5AD90-F9E2-075A-F386-4BA764852E47}"/>
              </a:ext>
            </a:extLst>
          </p:cNvPr>
          <p:cNvSpPr txBox="1"/>
          <p:nvPr/>
        </p:nvSpPr>
        <p:spPr>
          <a:xfrm>
            <a:off x="1177445" y="2337128"/>
            <a:ext cx="1144865"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200" b="0" i="0" u="none" strike="noStrike" kern="1200" cap="none" spc="0" normalizeH="0" baseline="0" noProof="0" dirty="0">
                <a:ln>
                  <a:noFill/>
                </a:ln>
                <a:solidFill>
                  <a:srgbClr val="1F1F1F"/>
                </a:solidFill>
                <a:effectLst/>
                <a:uLnTx/>
                <a:uFillTx/>
                <a:latin typeface="Source Sans Pro SemiBold" panose="020B0603030403020204" pitchFamily="34" charset="0"/>
                <a:ea typeface="Source Sans Pro SemiBold" panose="020B0603030403020204" pitchFamily="34" charset="0"/>
                <a:cs typeface="+mn-cs"/>
              </a:rPr>
              <a:t>Context</a:t>
            </a:r>
            <a:endParaRPr kumimoji="0" lang="en-US" sz="2200" b="0" i="0" u="none" strike="noStrike" kern="1200" cap="none" spc="0" normalizeH="0" baseline="0" noProof="0" dirty="0">
              <a:ln>
                <a:noFill/>
              </a:ln>
              <a:solidFill>
                <a:srgbClr val="1F1F1F"/>
              </a:solidFill>
              <a:effectLst/>
              <a:uLnTx/>
              <a:uFillTx/>
              <a:latin typeface="Source Sans Pro SemiBold" panose="020B0603030403020204" pitchFamily="34" charset="0"/>
              <a:ea typeface="Source Sans Pro SemiBold" panose="020B0603030403020204" pitchFamily="34" charset="0"/>
              <a:cs typeface="+mn-cs"/>
            </a:endParaRPr>
          </a:p>
        </p:txBody>
      </p:sp>
      <p:sp>
        <p:nvSpPr>
          <p:cNvPr id="39" name="TextBox 38">
            <a:extLst>
              <a:ext uri="{FF2B5EF4-FFF2-40B4-BE49-F238E27FC236}">
                <a16:creationId xmlns:a16="http://schemas.microsoft.com/office/drawing/2014/main" id="{8C89C3EA-DC60-E4B7-F707-AA91857BF508}"/>
              </a:ext>
            </a:extLst>
          </p:cNvPr>
          <p:cNvSpPr txBox="1"/>
          <p:nvPr/>
        </p:nvSpPr>
        <p:spPr>
          <a:xfrm>
            <a:off x="1177445" y="2784117"/>
            <a:ext cx="5411246" cy="2564805"/>
          </a:xfrm>
          <a:prstGeom prst="rect">
            <a:avLst/>
          </a:prstGeom>
          <a:noFill/>
        </p:spPr>
        <p:txBody>
          <a:bodyPr wrap="square" rtlCol="0">
            <a:spAutoFit/>
          </a:bodyPr>
          <a:lstStyle/>
          <a:p>
            <a:pPr eaLnBrk="0" fontAlgn="base" hangingPunct="0">
              <a:spcBef>
                <a:spcPct val="0"/>
              </a:spcBef>
              <a:spcAft>
                <a:spcPts val="600"/>
              </a:spcAft>
            </a:pPr>
            <a:r>
              <a:rPr lang="en-IN" sz="1600" dirty="0">
                <a:latin typeface="Source Sans Pro" panose="020B0503030403020204" pitchFamily="34" charset="0"/>
                <a:ea typeface="Source Sans Pro" panose="020B0503030403020204" pitchFamily="34" charset="0"/>
              </a:rPr>
              <a:t>560° HRMS &amp; Payroll is an enterprise-grade HR and payroll platform designed to replace manual, fragmented HR processes across organizations. The ecosystem included:</a:t>
            </a:r>
          </a:p>
          <a:p>
            <a:pPr marL="273050" lvl="0" indent="-1238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A web-based HRMS &amp; payroll system</a:t>
            </a:r>
          </a:p>
          <a:p>
            <a:pPr marL="273050" lvl="0" indent="-1238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An employee mobile application</a:t>
            </a:r>
          </a:p>
          <a:p>
            <a:pPr marL="273050" lvl="0" indent="-123825" eaLnBrk="0" fontAlgn="base" hangingPunct="0">
              <a:spcBef>
                <a:spcPct val="0"/>
              </a:spcBef>
              <a:spcAft>
                <a:spcPts val="800"/>
              </a:spcAft>
              <a:buFontTx/>
              <a:buChar char="•"/>
            </a:pPr>
            <a:r>
              <a:rPr lang="en-IN" sz="1600" dirty="0">
                <a:latin typeface="Source Sans Pro" panose="020B0503030403020204" pitchFamily="34" charset="0"/>
                <a:ea typeface="Source Sans Pro" panose="020B0503030403020204" pitchFamily="34" charset="0"/>
              </a:rPr>
              <a:t>An admin mobile application</a:t>
            </a:r>
          </a:p>
          <a:p>
            <a:pPr lvl="0" eaLnBrk="0" fontAlgn="base" hangingPunct="0">
              <a:spcBef>
                <a:spcPct val="0"/>
              </a:spcBef>
              <a:spcAft>
                <a:spcPts val="600"/>
              </a:spcAft>
            </a:pPr>
            <a:r>
              <a:rPr lang="en-IN" sz="1600" dirty="0">
                <a:latin typeface="Source Sans Pro" panose="020B0503030403020204" pitchFamily="34" charset="0"/>
                <a:ea typeface="Source Sans Pro" panose="020B0503030403020204" pitchFamily="34" charset="0"/>
              </a:rPr>
              <a:t>The platform supported the full employee lifecycle, from onboarding and attendance to payroll and compliance, requiring clarity, reliability, and daily usability at scale.</a:t>
            </a:r>
          </a:p>
        </p:txBody>
      </p:sp>
    </p:spTree>
    <p:extLst>
      <p:ext uri="{BB962C8B-B14F-4D97-AF65-F5344CB8AC3E}">
        <p14:creationId xmlns:p14="http://schemas.microsoft.com/office/powerpoint/2010/main" val="248191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alpha val="10225"/>
          </a:schemeClr>
        </a:solidFill>
        <a:effectLst/>
      </p:bgPr>
    </p:bg>
    <p:spTree>
      <p:nvGrpSpPr>
        <p:cNvPr id="1" name="">
          <a:extLst>
            <a:ext uri="{FF2B5EF4-FFF2-40B4-BE49-F238E27FC236}">
              <a16:creationId xmlns:a16="http://schemas.microsoft.com/office/drawing/2014/main" id="{F378C709-8FBE-23DB-BF51-FB75247D0974}"/>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101D3F57-D39D-0446-4250-070F283DE13A}"/>
              </a:ext>
            </a:extLst>
          </p:cNvPr>
          <p:cNvPicPr>
            <a:picLocks noChangeAspect="1"/>
          </p:cNvPicPr>
          <p:nvPr/>
        </p:nvPicPr>
        <p:blipFill>
          <a:blip r:embed="rId2">
            <a:alphaModFix amt="36000"/>
          </a:blip>
          <a:srcRect/>
          <a:stretch/>
        </p:blipFill>
        <p:spPr>
          <a:xfrm>
            <a:off x="1" y="-15249"/>
            <a:ext cx="12192250" cy="6857861"/>
          </a:xfrm>
          <a:prstGeom prst="rect">
            <a:avLst/>
          </a:prstGeom>
        </p:spPr>
      </p:pic>
      <p:pic>
        <p:nvPicPr>
          <p:cNvPr id="11" name="Picture 10" descr="A blue and green letter j&#10;&#10;AI-generated content may be incorrect.">
            <a:extLst>
              <a:ext uri="{FF2B5EF4-FFF2-40B4-BE49-F238E27FC236}">
                <a16:creationId xmlns:a16="http://schemas.microsoft.com/office/drawing/2014/main" id="{723C002E-1DE2-ECF3-2241-01C47B253FA4}"/>
              </a:ext>
            </a:extLst>
          </p:cNvPr>
          <p:cNvPicPr>
            <a:picLocks noChangeAspect="1"/>
          </p:cNvPicPr>
          <p:nvPr/>
        </p:nvPicPr>
        <p:blipFill>
          <a:blip r:embed="rId3"/>
          <a:stretch>
            <a:fillRect/>
          </a:stretch>
        </p:blipFill>
        <p:spPr>
          <a:xfrm>
            <a:off x="464420" y="388307"/>
            <a:ext cx="430147" cy="430147"/>
          </a:xfrm>
          <a:prstGeom prst="rect">
            <a:avLst/>
          </a:prstGeom>
        </p:spPr>
      </p:pic>
      <p:sp>
        <p:nvSpPr>
          <p:cNvPr id="35" name="TextBox 34">
            <a:extLst>
              <a:ext uri="{FF2B5EF4-FFF2-40B4-BE49-F238E27FC236}">
                <a16:creationId xmlns:a16="http://schemas.microsoft.com/office/drawing/2014/main" id="{7FF365CA-79AF-B814-FFBA-B8417E0E5BF1}"/>
              </a:ext>
            </a:extLst>
          </p:cNvPr>
          <p:cNvSpPr txBox="1"/>
          <p:nvPr/>
        </p:nvSpPr>
        <p:spPr>
          <a:xfrm>
            <a:off x="1177445" y="309693"/>
            <a:ext cx="1696298"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200" b="0" i="0" u="none" strike="noStrike" kern="1200" cap="none" spc="0" normalizeH="0" baseline="0" noProof="0" dirty="0">
                <a:ln>
                  <a:noFill/>
                </a:ln>
                <a:solidFill>
                  <a:srgbClr val="1F1F1F"/>
                </a:solidFill>
                <a:effectLst/>
                <a:uLnTx/>
                <a:uFillTx/>
                <a:latin typeface="Source Sans Pro Light" panose="020B0403030403020204" pitchFamily="34" charset="0"/>
                <a:ea typeface="Source Sans Pro Light" panose="020B0403030403020204" pitchFamily="34" charset="0"/>
                <a:cs typeface="+mn-cs"/>
              </a:rPr>
              <a:t>Case Study 4 </a:t>
            </a:r>
            <a:endParaRPr kumimoji="0" lang="en-US" sz="2200" b="0" i="0" u="none" strike="noStrike" kern="1200" cap="none" spc="0" normalizeH="0" baseline="0" noProof="0" dirty="0">
              <a:ln>
                <a:noFill/>
              </a:ln>
              <a:solidFill>
                <a:srgbClr val="1F1F1F"/>
              </a:solidFill>
              <a:effectLst/>
              <a:uLnTx/>
              <a:uFillTx/>
              <a:latin typeface="Source Sans Pro Light" panose="020B0403030403020204" pitchFamily="34" charset="0"/>
              <a:ea typeface="Source Sans Pro Light" panose="020B0403030403020204" pitchFamily="34" charset="0"/>
              <a:cs typeface="+mn-cs"/>
            </a:endParaRPr>
          </a:p>
        </p:txBody>
      </p:sp>
      <p:sp>
        <p:nvSpPr>
          <p:cNvPr id="38" name="TextBox 37">
            <a:extLst>
              <a:ext uri="{FF2B5EF4-FFF2-40B4-BE49-F238E27FC236}">
                <a16:creationId xmlns:a16="http://schemas.microsoft.com/office/drawing/2014/main" id="{55C83B70-701F-6494-68CA-B03EA91398EF}"/>
              </a:ext>
            </a:extLst>
          </p:cNvPr>
          <p:cNvSpPr txBox="1"/>
          <p:nvPr/>
        </p:nvSpPr>
        <p:spPr>
          <a:xfrm>
            <a:off x="1177445" y="1365785"/>
            <a:ext cx="2419252" cy="430887"/>
          </a:xfrm>
          <a:prstGeom prst="rect">
            <a:avLst/>
          </a:prstGeom>
          <a:noFill/>
        </p:spPr>
        <p:txBody>
          <a:bodyPr wrap="none" rtlCol="0">
            <a:spAutoFit/>
          </a:bodyPr>
          <a:lstStyle/>
          <a:p>
            <a:pPr>
              <a:defRPr/>
            </a:pPr>
            <a:r>
              <a:rPr lang="en-IN" sz="2200" dirty="0">
                <a:solidFill>
                  <a:srgbClr val="1F1F1F"/>
                </a:solidFill>
                <a:latin typeface="Source Sans Pro SemiBold" panose="020B0603030403020204" pitchFamily="34" charset="0"/>
                <a:ea typeface="Source Sans Pro SemiBold" panose="020B0603030403020204" pitchFamily="34" charset="0"/>
              </a:rPr>
              <a:t>What Was at Stake</a:t>
            </a:r>
          </a:p>
        </p:txBody>
      </p:sp>
      <p:sp>
        <p:nvSpPr>
          <p:cNvPr id="39" name="TextBox 38">
            <a:extLst>
              <a:ext uri="{FF2B5EF4-FFF2-40B4-BE49-F238E27FC236}">
                <a16:creationId xmlns:a16="http://schemas.microsoft.com/office/drawing/2014/main" id="{8369D22D-BF3F-9A7E-84B8-35F23090FA95}"/>
              </a:ext>
            </a:extLst>
          </p:cNvPr>
          <p:cNvSpPr txBox="1"/>
          <p:nvPr/>
        </p:nvSpPr>
        <p:spPr>
          <a:xfrm>
            <a:off x="1177444" y="1812774"/>
            <a:ext cx="10584495" cy="2110834"/>
          </a:xfrm>
          <a:prstGeom prst="rect">
            <a:avLst/>
          </a:prstGeom>
          <a:noFill/>
        </p:spPr>
        <p:txBody>
          <a:bodyPr wrap="square" rtlCol="0">
            <a:spAutoFit/>
          </a:bodyPr>
          <a:lstStyle/>
          <a:p>
            <a:pPr eaLnBrk="0" fontAlgn="base" hangingPunct="0">
              <a:spcBef>
                <a:spcPct val="0"/>
              </a:spcBef>
              <a:spcAft>
                <a:spcPts val="600"/>
              </a:spcAft>
            </a:pPr>
            <a:r>
              <a:rPr lang="en-IN" sz="1600" dirty="0">
                <a:latin typeface="Source Sans Pro" panose="020B0503030403020204" pitchFamily="34" charset="0"/>
                <a:ea typeface="Source Sans Pro" panose="020B0503030403020204" pitchFamily="34" charset="0"/>
              </a:rPr>
              <a:t>The platform addressed business-critical, high-frequency workflows where usability directly affected operations:</a:t>
            </a:r>
          </a:p>
          <a:p>
            <a:pPr marL="273050" indent="-123825" eaLnBrk="0" fontAlgn="base" hangingPunct="0">
              <a:spcBef>
                <a:spcPct val="0"/>
              </a:spcBef>
              <a:spcAft>
                <a:spcPts val="100"/>
              </a:spcAft>
              <a:buFontTx/>
              <a:buChar char="•"/>
            </a:pPr>
            <a:r>
              <a:rPr lang="en-IN" sz="1600" dirty="0">
                <a:latin typeface="Source Sans Pro" panose="020B0503030403020204" pitchFamily="34" charset="0"/>
                <a:ea typeface="Source Sans Pro" panose="020B0503030403020204" pitchFamily="34" charset="0"/>
              </a:rPr>
              <a:t>Complex, data-heavy, rule-driven HR and payroll processes needed to remain accurate and easy to use</a:t>
            </a:r>
          </a:p>
          <a:p>
            <a:pPr marL="273050" indent="-123825" eaLnBrk="0" fontAlgn="base" hangingPunct="0">
              <a:spcBef>
                <a:spcPct val="0"/>
              </a:spcBef>
              <a:spcAft>
                <a:spcPts val="100"/>
              </a:spcAft>
              <a:buFontTx/>
              <a:buChar char="•"/>
            </a:pPr>
            <a:r>
              <a:rPr lang="en-IN" sz="1600" dirty="0">
                <a:latin typeface="Source Sans Pro" panose="020B0503030403020204" pitchFamily="34" charset="0"/>
                <a:ea typeface="Source Sans Pro" panose="020B0503030403020204" pitchFamily="34" charset="0"/>
              </a:rPr>
              <a:t>Multiple user groups including employees, HR administrators, and management required clearly differentiated yet consistent experiences</a:t>
            </a:r>
          </a:p>
          <a:p>
            <a:pPr marL="273050" indent="-123825" eaLnBrk="0" fontAlgn="base" hangingPunct="0">
              <a:spcBef>
                <a:spcPct val="0"/>
              </a:spcBef>
              <a:spcAft>
                <a:spcPts val="100"/>
              </a:spcAft>
              <a:buFontTx/>
              <a:buChar char="•"/>
            </a:pPr>
            <a:r>
              <a:rPr lang="en-IN" sz="1600" dirty="0">
                <a:latin typeface="Source Sans Pro" panose="020B0503030403020204" pitchFamily="34" charset="0"/>
                <a:ea typeface="Source Sans Pro" panose="020B0503030403020204" pitchFamily="34" charset="0"/>
              </a:rPr>
              <a:t>Visual and interaction consistency had to be maintained across web and mobile platforms</a:t>
            </a:r>
          </a:p>
          <a:p>
            <a:pPr marL="273050" indent="-123825" eaLnBrk="0" fontAlgn="base" hangingPunct="0">
              <a:spcBef>
                <a:spcPct val="0"/>
              </a:spcBef>
              <a:spcAft>
                <a:spcPts val="800"/>
              </a:spcAft>
              <a:buFontTx/>
              <a:buChar char="•"/>
            </a:pPr>
            <a:r>
              <a:rPr lang="en-IN" sz="1600" dirty="0">
                <a:latin typeface="Source Sans Pro" panose="020B0503030403020204" pitchFamily="34" charset="0"/>
                <a:ea typeface="Source Sans Pro" panose="020B0503030403020204" pitchFamily="34" charset="0"/>
              </a:rPr>
              <a:t>Everyday actions such as attendance marking, approvals, and payroll reviews needed to be fast and intuitive</a:t>
            </a:r>
          </a:p>
          <a:p>
            <a:pPr eaLnBrk="0" fontAlgn="base" hangingPunct="0">
              <a:spcBef>
                <a:spcPct val="0"/>
              </a:spcBef>
              <a:spcAft>
                <a:spcPts val="600"/>
              </a:spcAft>
            </a:pPr>
            <a:r>
              <a:rPr lang="en-IN" sz="1600" dirty="0">
                <a:latin typeface="Source Sans Pro" panose="020B0503030403020204" pitchFamily="34" charset="0"/>
                <a:ea typeface="Source Sans Pro" panose="020B0503030403020204" pitchFamily="34" charset="0"/>
              </a:rPr>
              <a:t>Poor UI decisions would have resulted in operational inefficiencies, user frustration, and reduced platform adoption.</a:t>
            </a:r>
          </a:p>
        </p:txBody>
      </p:sp>
      <p:sp>
        <p:nvSpPr>
          <p:cNvPr id="40" name="TextBox 39">
            <a:extLst>
              <a:ext uri="{FF2B5EF4-FFF2-40B4-BE49-F238E27FC236}">
                <a16:creationId xmlns:a16="http://schemas.microsoft.com/office/drawing/2014/main" id="{1BD078B1-F731-14C8-A5BE-54315DECB3D8}"/>
              </a:ext>
            </a:extLst>
          </p:cNvPr>
          <p:cNvSpPr txBox="1"/>
          <p:nvPr/>
        </p:nvSpPr>
        <p:spPr>
          <a:xfrm>
            <a:off x="1177444" y="4021022"/>
            <a:ext cx="1911101" cy="430887"/>
          </a:xfrm>
          <a:prstGeom prst="rect">
            <a:avLst/>
          </a:prstGeom>
          <a:noFill/>
        </p:spPr>
        <p:txBody>
          <a:bodyPr wrap="none" rtlCol="0">
            <a:spAutoFit/>
          </a:bodyPr>
          <a:lstStyle/>
          <a:p>
            <a:pPr>
              <a:defRPr/>
            </a:pPr>
            <a:r>
              <a:rPr lang="en-IN" sz="2200" dirty="0">
                <a:solidFill>
                  <a:srgbClr val="1F1F1F"/>
                </a:solidFill>
                <a:latin typeface="Source Sans Pro SemiBold" panose="020B0603030403020204" pitchFamily="34" charset="0"/>
                <a:ea typeface="Source Sans Pro SemiBold" panose="020B0603030403020204" pitchFamily="34" charset="0"/>
              </a:rPr>
              <a:t>My Ownership</a:t>
            </a:r>
          </a:p>
        </p:txBody>
      </p:sp>
      <p:sp>
        <p:nvSpPr>
          <p:cNvPr id="2" name="TextBox 1">
            <a:extLst>
              <a:ext uri="{FF2B5EF4-FFF2-40B4-BE49-F238E27FC236}">
                <a16:creationId xmlns:a16="http://schemas.microsoft.com/office/drawing/2014/main" id="{02257BE2-8D98-13E7-4FDF-9D091105F14C}"/>
              </a:ext>
            </a:extLst>
          </p:cNvPr>
          <p:cNvSpPr txBox="1"/>
          <p:nvPr/>
        </p:nvSpPr>
        <p:spPr>
          <a:xfrm>
            <a:off x="1177445" y="722884"/>
            <a:ext cx="9530173" cy="461665"/>
          </a:xfrm>
          <a:prstGeom prst="rect">
            <a:avLst/>
          </a:prstGeom>
          <a:noFill/>
        </p:spPr>
        <p:txBody>
          <a:bodyPr wrap="none" rtlCol="0">
            <a:spAutoFit/>
          </a:bodyPr>
          <a:lstStyle/>
          <a:p>
            <a:r>
              <a:rPr kumimoji="0" lang="en-IN" sz="2400" b="0" i="0" u="none" strike="noStrike" kern="1200" cap="none" spc="0" normalizeH="0" baseline="0" noProof="0" dirty="0">
                <a:ln>
                  <a:noFill/>
                </a:ln>
                <a:solidFill>
                  <a:prstClr val="black"/>
                </a:solidFill>
                <a:effectLst/>
                <a:uLnTx/>
                <a:uFillTx/>
                <a:latin typeface="Source Sans Pro SemiBold" panose="020B0603030403020204" pitchFamily="34" charset="0"/>
                <a:ea typeface="Source Sans Pro SemiBold" panose="020B0603030403020204" pitchFamily="34" charset="0"/>
                <a:cs typeface="+mn-cs"/>
              </a:rPr>
              <a:t>HRMS &amp; Payroll Platform</a:t>
            </a:r>
            <a:r>
              <a:rPr lang="en-IN" sz="2400" b="1" dirty="0">
                <a:solidFill>
                  <a:prstClr val="black"/>
                </a:solidFill>
                <a:latin typeface="Source Sans Pro SemiBold" panose="020B0603030403020204" pitchFamily="34" charset="0"/>
                <a:ea typeface="Source Sans Pro SemiBold" panose="020B0603030403020204" pitchFamily="34" charset="0"/>
              </a:rPr>
              <a:t> - </a:t>
            </a:r>
            <a:r>
              <a:rPr kumimoji="0" lang="en-IN" sz="2400" b="0" i="0" u="none" strike="noStrike" kern="1200" cap="none" spc="0" normalizeH="0" baseline="0" noProof="0" dirty="0">
                <a:ln>
                  <a:noFill/>
                </a:ln>
                <a:solidFill>
                  <a:prstClr val="black"/>
                </a:solidFill>
                <a:effectLst/>
                <a:uLnTx/>
                <a:uFillTx/>
                <a:latin typeface="Source Sans Pro" panose="020B0503030403020204" pitchFamily="34" charset="0"/>
                <a:ea typeface="Source Sans Pro" panose="020B0503030403020204" pitchFamily="34" charset="0"/>
                <a:cs typeface="+mn-cs"/>
              </a:rPr>
              <a:t>Enterprise Web &amp; Mobile UI Design (Freelance)</a:t>
            </a:r>
            <a:endParaRPr kumimoji="0" lang="en-US" sz="2400" b="0" i="0" u="none" strike="noStrike" kern="1200" cap="none" spc="0" normalizeH="0" baseline="0" noProof="0" dirty="0">
              <a:ln>
                <a:noFill/>
              </a:ln>
              <a:solidFill>
                <a:srgbClr val="1F1F1F"/>
              </a:solidFill>
              <a:effectLst/>
              <a:uLnTx/>
              <a:uFillTx/>
              <a:latin typeface="Source Sans Pro" panose="020B0503030403020204" pitchFamily="34" charset="0"/>
              <a:ea typeface="Source Sans Pro" panose="020B0503030403020204" pitchFamily="34" charset="0"/>
              <a:cs typeface="+mn-cs"/>
            </a:endParaRPr>
          </a:p>
        </p:txBody>
      </p:sp>
      <p:sp>
        <p:nvSpPr>
          <p:cNvPr id="3" name="TextBox 2">
            <a:extLst>
              <a:ext uri="{FF2B5EF4-FFF2-40B4-BE49-F238E27FC236}">
                <a16:creationId xmlns:a16="http://schemas.microsoft.com/office/drawing/2014/main" id="{0E0F9E32-90EE-445B-0225-99D79162251F}"/>
              </a:ext>
            </a:extLst>
          </p:cNvPr>
          <p:cNvSpPr txBox="1"/>
          <p:nvPr/>
        </p:nvSpPr>
        <p:spPr>
          <a:xfrm>
            <a:off x="1177444" y="4451909"/>
            <a:ext cx="10584495" cy="1944122"/>
          </a:xfrm>
          <a:prstGeom prst="rect">
            <a:avLst/>
          </a:prstGeom>
          <a:noFill/>
        </p:spPr>
        <p:txBody>
          <a:bodyPr wrap="square" rtlCol="0">
            <a:spAutoFit/>
          </a:bodyPr>
          <a:lstStyle/>
          <a:p>
            <a:pPr eaLnBrk="0" fontAlgn="base" hangingPunct="0">
              <a:spcBef>
                <a:spcPct val="0"/>
              </a:spcBef>
              <a:spcAft>
                <a:spcPts val="600"/>
              </a:spcAft>
            </a:pPr>
            <a:r>
              <a:rPr lang="en-IN" sz="1600" dirty="0">
                <a:latin typeface="Source Sans Pro" panose="020B0503030403020204" pitchFamily="34" charset="0"/>
                <a:ea typeface="Source Sans Pro" panose="020B0503030403020204" pitchFamily="34" charset="0"/>
              </a:rPr>
              <a:t>I was engaged as a senior UI designer, working closely with the product and engineering teams to define and scale UI patterns across the platform. I was accountable for:</a:t>
            </a:r>
          </a:p>
          <a:p>
            <a:pPr marL="273050" lvl="0" indent="-123825" eaLnBrk="0" fontAlgn="base" hangingPunct="0">
              <a:spcBef>
                <a:spcPct val="0"/>
              </a:spcBef>
              <a:spcAft>
                <a:spcPts val="100"/>
              </a:spcAft>
              <a:buFontTx/>
              <a:buChar char="•"/>
            </a:pPr>
            <a:r>
              <a:rPr lang="en-IN" sz="1600" dirty="0">
                <a:latin typeface="Source Sans Pro" panose="020B0503030403020204" pitchFamily="34" charset="0"/>
                <a:ea typeface="Source Sans Pro" panose="020B0503030403020204" pitchFamily="34" charset="0"/>
              </a:rPr>
              <a:t>Translating complex product requirements into intuitive, usable interfaces</a:t>
            </a:r>
          </a:p>
          <a:p>
            <a:pPr marL="273050" lvl="0" indent="-123825" eaLnBrk="0" fontAlgn="base" hangingPunct="0">
              <a:spcBef>
                <a:spcPct val="0"/>
              </a:spcBef>
              <a:spcAft>
                <a:spcPts val="100"/>
              </a:spcAft>
              <a:buFontTx/>
              <a:buChar char="•"/>
            </a:pPr>
            <a:r>
              <a:rPr lang="en-IN" sz="1600" dirty="0">
                <a:latin typeface="Source Sans Pro" panose="020B0503030403020204" pitchFamily="34" charset="0"/>
                <a:ea typeface="Source Sans Pro" panose="020B0503030403020204" pitchFamily="34" charset="0"/>
              </a:rPr>
              <a:t>Defining visual hierarchy and layout systems for both web and mobile</a:t>
            </a:r>
          </a:p>
          <a:p>
            <a:pPr marL="273050" lvl="0" indent="-123825" eaLnBrk="0" fontAlgn="base" hangingPunct="0">
              <a:spcBef>
                <a:spcPct val="0"/>
              </a:spcBef>
              <a:spcAft>
                <a:spcPts val="100"/>
              </a:spcAft>
              <a:buFontTx/>
              <a:buChar char="•"/>
            </a:pPr>
            <a:r>
              <a:rPr lang="en-IN" sz="1600" dirty="0">
                <a:latin typeface="Source Sans Pro" panose="020B0503030403020204" pitchFamily="34" charset="0"/>
                <a:ea typeface="Source Sans Pro" panose="020B0503030403020204" pitchFamily="34" charset="0"/>
              </a:rPr>
              <a:t>Ensuring consistent UI patterns across HRMS, attendance, and payroll modules</a:t>
            </a:r>
          </a:p>
          <a:p>
            <a:pPr marL="273050" lvl="0" indent="-123825" eaLnBrk="0" fontAlgn="base" hangingPunct="0">
              <a:spcBef>
                <a:spcPct val="0"/>
              </a:spcBef>
              <a:spcAft>
                <a:spcPts val="100"/>
              </a:spcAft>
              <a:buFontTx/>
              <a:buChar char="•"/>
            </a:pPr>
            <a:r>
              <a:rPr lang="en-IN" sz="1600" dirty="0">
                <a:latin typeface="Source Sans Pro" panose="020B0503030403020204" pitchFamily="34" charset="0"/>
                <a:ea typeface="Source Sans Pro" panose="020B0503030403020204" pitchFamily="34" charset="0"/>
              </a:rPr>
              <a:t>Designing experiences for both employee-facing and admin-facing applications</a:t>
            </a:r>
          </a:p>
          <a:p>
            <a:pPr marL="273050" lvl="0" indent="-123825" eaLnBrk="0" fontAlgn="base" hangingPunct="0">
              <a:spcBef>
                <a:spcPct val="0"/>
              </a:spcBef>
              <a:spcAft>
                <a:spcPts val="100"/>
              </a:spcAft>
              <a:buFontTx/>
              <a:buChar char="•"/>
            </a:pPr>
            <a:r>
              <a:rPr lang="en-IN" sz="1600" dirty="0">
                <a:latin typeface="Source Sans Pro" panose="020B0503030403020204" pitchFamily="34" charset="0"/>
                <a:ea typeface="Source Sans Pro" panose="020B0503030403020204" pitchFamily="34" charset="0"/>
              </a:rPr>
              <a:t>Acting as a design partner to product and development teams during implementation</a:t>
            </a:r>
          </a:p>
        </p:txBody>
      </p:sp>
    </p:spTree>
    <p:extLst>
      <p:ext uri="{BB962C8B-B14F-4D97-AF65-F5344CB8AC3E}">
        <p14:creationId xmlns:p14="http://schemas.microsoft.com/office/powerpoint/2010/main" val="808887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3">
            <a:lumMod val="20000"/>
            <a:lumOff val="80000"/>
            <a:alpha val="10225"/>
          </a:schemeClr>
        </a:solidFill>
        <a:effectLst/>
      </p:bgPr>
    </p:bg>
    <p:spTree>
      <p:nvGrpSpPr>
        <p:cNvPr id="1" name="">
          <a:extLst>
            <a:ext uri="{FF2B5EF4-FFF2-40B4-BE49-F238E27FC236}">
              <a16:creationId xmlns:a16="http://schemas.microsoft.com/office/drawing/2014/main" id="{6882DB0F-22AC-AC3F-4EC9-EEB37F43F0A0}"/>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071B24E4-1A4E-9662-F56A-7A637D9D487A}"/>
              </a:ext>
            </a:extLst>
          </p:cNvPr>
          <p:cNvPicPr>
            <a:picLocks noChangeAspect="1"/>
          </p:cNvPicPr>
          <p:nvPr/>
        </p:nvPicPr>
        <p:blipFill>
          <a:blip r:embed="rId2">
            <a:alphaModFix amt="36000"/>
          </a:blip>
          <a:srcRect/>
          <a:stretch/>
        </p:blipFill>
        <p:spPr>
          <a:xfrm>
            <a:off x="1" y="-15249"/>
            <a:ext cx="12192250" cy="6857861"/>
          </a:xfrm>
          <a:prstGeom prst="rect">
            <a:avLst/>
          </a:prstGeom>
        </p:spPr>
      </p:pic>
      <p:pic>
        <p:nvPicPr>
          <p:cNvPr id="11" name="Picture 10" descr="A blue and green letter j&#10;&#10;AI-generated content may be incorrect.">
            <a:extLst>
              <a:ext uri="{FF2B5EF4-FFF2-40B4-BE49-F238E27FC236}">
                <a16:creationId xmlns:a16="http://schemas.microsoft.com/office/drawing/2014/main" id="{1677B218-294F-D89D-CAE9-B26F676E8308}"/>
              </a:ext>
            </a:extLst>
          </p:cNvPr>
          <p:cNvPicPr>
            <a:picLocks noChangeAspect="1"/>
          </p:cNvPicPr>
          <p:nvPr/>
        </p:nvPicPr>
        <p:blipFill>
          <a:blip r:embed="rId3"/>
          <a:stretch>
            <a:fillRect/>
          </a:stretch>
        </p:blipFill>
        <p:spPr>
          <a:xfrm>
            <a:off x="464420" y="388307"/>
            <a:ext cx="430147" cy="430147"/>
          </a:xfrm>
          <a:prstGeom prst="rect">
            <a:avLst/>
          </a:prstGeom>
        </p:spPr>
      </p:pic>
      <p:sp>
        <p:nvSpPr>
          <p:cNvPr id="35" name="TextBox 34">
            <a:extLst>
              <a:ext uri="{FF2B5EF4-FFF2-40B4-BE49-F238E27FC236}">
                <a16:creationId xmlns:a16="http://schemas.microsoft.com/office/drawing/2014/main" id="{7FD4B898-39E7-6883-7507-FBF1A6F6E5D0}"/>
              </a:ext>
            </a:extLst>
          </p:cNvPr>
          <p:cNvSpPr txBox="1"/>
          <p:nvPr/>
        </p:nvSpPr>
        <p:spPr>
          <a:xfrm>
            <a:off x="1177445" y="309693"/>
            <a:ext cx="1696298" cy="43088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200" b="0" i="0" u="none" strike="noStrike" kern="1200" cap="none" spc="0" normalizeH="0" baseline="0" noProof="0" dirty="0">
                <a:ln>
                  <a:noFill/>
                </a:ln>
                <a:solidFill>
                  <a:srgbClr val="1F1F1F"/>
                </a:solidFill>
                <a:effectLst/>
                <a:uLnTx/>
                <a:uFillTx/>
                <a:latin typeface="Source Sans Pro Light" panose="020B0403030403020204" pitchFamily="34" charset="0"/>
                <a:ea typeface="Source Sans Pro Light" panose="020B0403030403020204" pitchFamily="34" charset="0"/>
                <a:cs typeface="+mn-cs"/>
              </a:rPr>
              <a:t>Case Study 4 </a:t>
            </a:r>
            <a:endParaRPr kumimoji="0" lang="en-US" sz="2200" b="0" i="0" u="none" strike="noStrike" kern="1200" cap="none" spc="0" normalizeH="0" baseline="0" noProof="0" dirty="0">
              <a:ln>
                <a:noFill/>
              </a:ln>
              <a:solidFill>
                <a:srgbClr val="1F1F1F"/>
              </a:solidFill>
              <a:effectLst/>
              <a:uLnTx/>
              <a:uFillTx/>
              <a:latin typeface="Source Sans Pro Light" panose="020B0403030403020204" pitchFamily="34" charset="0"/>
              <a:ea typeface="Source Sans Pro Light" panose="020B0403030403020204" pitchFamily="34" charset="0"/>
              <a:cs typeface="+mn-cs"/>
            </a:endParaRPr>
          </a:p>
        </p:txBody>
      </p:sp>
      <p:sp>
        <p:nvSpPr>
          <p:cNvPr id="2" name="TextBox 1">
            <a:extLst>
              <a:ext uri="{FF2B5EF4-FFF2-40B4-BE49-F238E27FC236}">
                <a16:creationId xmlns:a16="http://schemas.microsoft.com/office/drawing/2014/main" id="{3567823A-48ED-223A-3BDE-A110D65B5372}"/>
              </a:ext>
            </a:extLst>
          </p:cNvPr>
          <p:cNvSpPr txBox="1"/>
          <p:nvPr/>
        </p:nvSpPr>
        <p:spPr>
          <a:xfrm>
            <a:off x="1177445" y="1657758"/>
            <a:ext cx="4104009" cy="430887"/>
          </a:xfrm>
          <a:prstGeom prst="rect">
            <a:avLst/>
          </a:prstGeom>
          <a:noFill/>
        </p:spPr>
        <p:txBody>
          <a:bodyPr wrap="none" rtlCol="0">
            <a:spAutoFit/>
          </a:bodyPr>
          <a:lstStyle/>
          <a:p>
            <a:pPr>
              <a:defRPr/>
            </a:pPr>
            <a:r>
              <a:rPr lang="en-IN" sz="2200" dirty="0">
                <a:solidFill>
                  <a:srgbClr val="1F1F1F"/>
                </a:solidFill>
                <a:latin typeface="Source Sans Pro SemiBold" panose="020B0603030403020204" pitchFamily="34" charset="0"/>
                <a:ea typeface="Source Sans Pro SemiBold" panose="020B0603030403020204" pitchFamily="34" charset="0"/>
              </a:rPr>
              <a:t>Platform Capabilities Supported</a:t>
            </a:r>
          </a:p>
        </p:txBody>
      </p:sp>
      <p:sp>
        <p:nvSpPr>
          <p:cNvPr id="3" name="TextBox 2">
            <a:extLst>
              <a:ext uri="{FF2B5EF4-FFF2-40B4-BE49-F238E27FC236}">
                <a16:creationId xmlns:a16="http://schemas.microsoft.com/office/drawing/2014/main" id="{A88BAA2E-2884-A6AB-E10F-1A92A9FD186E}"/>
              </a:ext>
            </a:extLst>
          </p:cNvPr>
          <p:cNvSpPr txBox="1"/>
          <p:nvPr/>
        </p:nvSpPr>
        <p:spPr>
          <a:xfrm>
            <a:off x="1177445" y="2104747"/>
            <a:ext cx="9745252" cy="1477328"/>
          </a:xfrm>
          <a:prstGeom prst="rect">
            <a:avLst/>
          </a:prstGeom>
          <a:noFill/>
        </p:spPr>
        <p:txBody>
          <a:bodyPr wrap="square" rtlCol="0">
            <a:spAutoFit/>
          </a:bodyPr>
          <a:lstStyle/>
          <a:p>
            <a:pPr marL="136525" lvl="0" indent="-136525" eaLnBrk="0" fontAlgn="base" hangingPunct="0">
              <a:spcBef>
                <a:spcPct val="0"/>
              </a:spcBef>
              <a:spcAft>
                <a:spcPts val="300"/>
              </a:spcAft>
              <a:buFontTx/>
              <a:buChar char="•"/>
            </a:pPr>
            <a:r>
              <a:rPr lang="en-IN" sz="1600" dirty="0">
                <a:solidFill>
                  <a:prstClr val="black"/>
                </a:solidFill>
                <a:latin typeface="Source Sans Pro" panose="020B0503030403020204" pitchFamily="34" charset="0"/>
                <a:ea typeface="Source Sans Pro" panose="020B0503030403020204" pitchFamily="34" charset="0"/>
              </a:rPr>
              <a:t>Centralized employee data management</a:t>
            </a:r>
          </a:p>
          <a:p>
            <a:pPr marL="136525" lvl="0" indent="-136525" eaLnBrk="0" fontAlgn="base" hangingPunct="0">
              <a:spcBef>
                <a:spcPct val="0"/>
              </a:spcBef>
              <a:spcAft>
                <a:spcPts val="300"/>
              </a:spcAft>
              <a:buFontTx/>
              <a:buChar char="•"/>
            </a:pPr>
            <a:r>
              <a:rPr lang="en-IN" sz="1600" dirty="0">
                <a:solidFill>
                  <a:prstClr val="black"/>
                </a:solidFill>
                <a:latin typeface="Source Sans Pro" panose="020B0503030403020204" pitchFamily="34" charset="0"/>
                <a:ea typeface="Source Sans Pro" panose="020B0503030403020204" pitchFamily="34" charset="0"/>
              </a:rPr>
              <a:t>Automated payroll processing</a:t>
            </a:r>
          </a:p>
          <a:p>
            <a:pPr marL="136525" lvl="0" indent="-136525" eaLnBrk="0" fontAlgn="base" hangingPunct="0">
              <a:spcBef>
                <a:spcPct val="0"/>
              </a:spcBef>
              <a:spcAft>
                <a:spcPts val="300"/>
              </a:spcAft>
              <a:buFontTx/>
              <a:buChar char="•"/>
            </a:pPr>
            <a:r>
              <a:rPr lang="en-IN" sz="1600" dirty="0">
                <a:solidFill>
                  <a:prstClr val="black"/>
                </a:solidFill>
                <a:latin typeface="Source Sans Pro" panose="020B0503030403020204" pitchFamily="34" charset="0"/>
                <a:ea typeface="Source Sans Pro" panose="020B0503030403020204" pitchFamily="34" charset="0"/>
              </a:rPr>
              <a:t>Leave, attendance, and time management</a:t>
            </a:r>
          </a:p>
          <a:p>
            <a:pPr marL="136525" lvl="0" indent="-136525" eaLnBrk="0" fontAlgn="base" hangingPunct="0">
              <a:spcBef>
                <a:spcPct val="0"/>
              </a:spcBef>
              <a:spcAft>
                <a:spcPts val="300"/>
              </a:spcAft>
              <a:buFontTx/>
              <a:buChar char="•"/>
            </a:pPr>
            <a:r>
              <a:rPr lang="en-IN" sz="1600" dirty="0">
                <a:solidFill>
                  <a:prstClr val="black"/>
                </a:solidFill>
                <a:latin typeface="Source Sans Pro" panose="020B0503030403020204" pitchFamily="34" charset="0"/>
                <a:ea typeface="Source Sans Pro" panose="020B0503030403020204" pitchFamily="34" charset="0"/>
              </a:rPr>
              <a:t>Recruitment and onboarding workflows</a:t>
            </a:r>
          </a:p>
          <a:p>
            <a:pPr marL="136525" lvl="0" indent="-136525" eaLnBrk="0" fontAlgn="base" hangingPunct="0">
              <a:spcBef>
                <a:spcPct val="0"/>
              </a:spcBef>
              <a:spcAft>
                <a:spcPts val="300"/>
              </a:spcAft>
              <a:buFontTx/>
              <a:buChar char="•"/>
            </a:pPr>
            <a:r>
              <a:rPr lang="en-IN" sz="1600" dirty="0">
                <a:solidFill>
                  <a:prstClr val="black"/>
                </a:solidFill>
                <a:latin typeface="Source Sans Pro" panose="020B0503030403020204" pitchFamily="34" charset="0"/>
                <a:ea typeface="Source Sans Pro" panose="020B0503030403020204" pitchFamily="34" charset="0"/>
              </a:rPr>
              <a:t>Mobile-based admin controls and approvals</a:t>
            </a:r>
          </a:p>
        </p:txBody>
      </p:sp>
      <p:sp>
        <p:nvSpPr>
          <p:cNvPr id="4" name="TextBox 3">
            <a:extLst>
              <a:ext uri="{FF2B5EF4-FFF2-40B4-BE49-F238E27FC236}">
                <a16:creationId xmlns:a16="http://schemas.microsoft.com/office/drawing/2014/main" id="{BD8CD0CB-01FD-1347-EFE7-6A0A1FBC25EE}"/>
              </a:ext>
            </a:extLst>
          </p:cNvPr>
          <p:cNvSpPr txBox="1"/>
          <p:nvPr/>
        </p:nvSpPr>
        <p:spPr>
          <a:xfrm>
            <a:off x="1177444" y="4023200"/>
            <a:ext cx="7127312" cy="430887"/>
          </a:xfrm>
          <a:prstGeom prst="rect">
            <a:avLst/>
          </a:prstGeom>
          <a:noFill/>
        </p:spPr>
        <p:txBody>
          <a:bodyPr wrap="square" rtlCol="0">
            <a:spAutoFit/>
          </a:bodyPr>
          <a:lstStyle/>
          <a:p>
            <a:pPr>
              <a:defRPr/>
            </a:pPr>
            <a:r>
              <a:rPr lang="en-IN" sz="2200" dirty="0">
                <a:solidFill>
                  <a:srgbClr val="1F1F1F"/>
                </a:solidFill>
                <a:latin typeface="Source Sans Pro SemiBold" panose="020B0603030403020204" pitchFamily="34" charset="0"/>
                <a:ea typeface="Source Sans Pro SemiBold" panose="020B0603030403020204" pitchFamily="34" charset="0"/>
              </a:rPr>
              <a:t>Outcomes &amp; Impact</a:t>
            </a:r>
            <a:endParaRPr lang="en-US" sz="2200" dirty="0">
              <a:solidFill>
                <a:srgbClr val="1F1F1F"/>
              </a:solidFill>
              <a:latin typeface="Source Sans Pro SemiBold" panose="020B0603030403020204" pitchFamily="34" charset="0"/>
              <a:ea typeface="Source Sans Pro SemiBold" panose="020B0603030403020204" pitchFamily="34" charset="0"/>
            </a:endParaRPr>
          </a:p>
        </p:txBody>
      </p:sp>
      <p:sp>
        <p:nvSpPr>
          <p:cNvPr id="5" name="TextBox 4">
            <a:extLst>
              <a:ext uri="{FF2B5EF4-FFF2-40B4-BE49-F238E27FC236}">
                <a16:creationId xmlns:a16="http://schemas.microsoft.com/office/drawing/2014/main" id="{5C4FDF1E-B8F7-E8E0-4200-49AD2FB6C969}"/>
              </a:ext>
            </a:extLst>
          </p:cNvPr>
          <p:cNvSpPr txBox="1"/>
          <p:nvPr/>
        </p:nvSpPr>
        <p:spPr>
          <a:xfrm>
            <a:off x="1177444" y="4470189"/>
            <a:ext cx="9632518" cy="1192634"/>
          </a:xfrm>
          <a:prstGeom prst="rect">
            <a:avLst/>
          </a:prstGeom>
          <a:noFill/>
        </p:spPr>
        <p:txBody>
          <a:bodyPr wrap="square" rtlCol="0">
            <a:spAutoFit/>
          </a:bodyPr>
          <a:lstStyle/>
          <a:p>
            <a:pPr marL="136525" indent="-136525" eaLnBrk="0" fontAlgn="base" hangingPunct="0">
              <a:spcBef>
                <a:spcPct val="0"/>
              </a:spcBef>
              <a:spcAft>
                <a:spcPts val="300"/>
              </a:spcAft>
              <a:buFontTx/>
              <a:buChar char="•"/>
            </a:pPr>
            <a:r>
              <a:rPr lang="en-IN" sz="1600" dirty="0">
                <a:solidFill>
                  <a:prstClr val="black"/>
                </a:solidFill>
                <a:latin typeface="Source Sans Pro" panose="020B0503030403020204" pitchFamily="34" charset="0"/>
                <a:ea typeface="Source Sans Pro" panose="020B0503030403020204" pitchFamily="34" charset="0"/>
              </a:rPr>
              <a:t>Delivered a cohesive, enterprise-grade UI experience across web and mobile platforms</a:t>
            </a:r>
          </a:p>
          <a:p>
            <a:pPr marL="136525" indent="-136525" eaLnBrk="0" fontAlgn="base" hangingPunct="0">
              <a:spcBef>
                <a:spcPct val="0"/>
              </a:spcBef>
              <a:spcAft>
                <a:spcPts val="300"/>
              </a:spcAft>
              <a:buFontTx/>
              <a:buChar char="•"/>
            </a:pPr>
            <a:r>
              <a:rPr lang="en-IN" sz="1600" dirty="0">
                <a:solidFill>
                  <a:prstClr val="black"/>
                </a:solidFill>
                <a:latin typeface="Source Sans Pro" panose="020B0503030403020204" pitchFamily="34" charset="0"/>
                <a:ea typeface="Source Sans Pro" panose="020B0503030403020204" pitchFamily="34" charset="0"/>
              </a:rPr>
              <a:t>Improved usability and efficiency for HR teams managing payroll and attendance</a:t>
            </a:r>
          </a:p>
          <a:p>
            <a:pPr marL="136525" indent="-136525" eaLnBrk="0" fontAlgn="base" hangingPunct="0">
              <a:spcBef>
                <a:spcPct val="0"/>
              </a:spcBef>
              <a:spcAft>
                <a:spcPts val="300"/>
              </a:spcAft>
              <a:buFontTx/>
              <a:buChar char="•"/>
            </a:pPr>
            <a:r>
              <a:rPr lang="en-IN" sz="1600" dirty="0">
                <a:solidFill>
                  <a:prstClr val="black"/>
                </a:solidFill>
                <a:latin typeface="Source Sans Pro" panose="020B0503030403020204" pitchFamily="34" charset="0"/>
                <a:ea typeface="Source Sans Pro" panose="020B0503030403020204" pitchFamily="34" charset="0"/>
              </a:rPr>
              <a:t>Enabled mobile-based attendance and approvals, increasing flexibility for daily operations</a:t>
            </a:r>
          </a:p>
          <a:p>
            <a:pPr marL="136525" indent="-136525" eaLnBrk="0" fontAlgn="base" hangingPunct="0">
              <a:spcBef>
                <a:spcPct val="0"/>
              </a:spcBef>
              <a:spcAft>
                <a:spcPts val="300"/>
              </a:spcAft>
              <a:buFontTx/>
              <a:buChar char="•"/>
            </a:pPr>
            <a:r>
              <a:rPr lang="en-IN" sz="1600" dirty="0">
                <a:solidFill>
                  <a:prstClr val="black"/>
                </a:solidFill>
                <a:latin typeface="Source Sans Pro" panose="020B0503030403020204" pitchFamily="34" charset="0"/>
                <a:ea typeface="Source Sans Pro" panose="020B0503030403020204" pitchFamily="34" charset="0"/>
              </a:rPr>
              <a:t>Supported faster product adoption through clear, scalable, and consistent interface design</a:t>
            </a:r>
          </a:p>
        </p:txBody>
      </p:sp>
      <p:sp>
        <p:nvSpPr>
          <p:cNvPr id="7" name="TextBox 6">
            <a:extLst>
              <a:ext uri="{FF2B5EF4-FFF2-40B4-BE49-F238E27FC236}">
                <a16:creationId xmlns:a16="http://schemas.microsoft.com/office/drawing/2014/main" id="{599CEB4E-9DA0-C0DC-0F52-F0212C73BDB0}"/>
              </a:ext>
            </a:extLst>
          </p:cNvPr>
          <p:cNvSpPr txBox="1"/>
          <p:nvPr/>
        </p:nvSpPr>
        <p:spPr>
          <a:xfrm>
            <a:off x="1177445" y="722884"/>
            <a:ext cx="9530173" cy="461665"/>
          </a:xfrm>
          <a:prstGeom prst="rect">
            <a:avLst/>
          </a:prstGeom>
          <a:noFill/>
        </p:spPr>
        <p:txBody>
          <a:bodyPr wrap="none" rtlCol="0">
            <a:spAutoFit/>
          </a:bodyPr>
          <a:lstStyle/>
          <a:p>
            <a:r>
              <a:rPr kumimoji="0" lang="en-IN" sz="2400" b="0" i="0" u="none" strike="noStrike" kern="1200" cap="none" spc="0" normalizeH="0" baseline="0" noProof="0" dirty="0">
                <a:ln>
                  <a:noFill/>
                </a:ln>
                <a:solidFill>
                  <a:prstClr val="black"/>
                </a:solidFill>
                <a:effectLst/>
                <a:uLnTx/>
                <a:uFillTx/>
                <a:latin typeface="Source Sans Pro SemiBold" panose="020B0603030403020204" pitchFamily="34" charset="0"/>
                <a:ea typeface="Source Sans Pro SemiBold" panose="020B0603030403020204" pitchFamily="34" charset="0"/>
                <a:cs typeface="+mn-cs"/>
              </a:rPr>
              <a:t>HRMS &amp; Payroll Platform</a:t>
            </a:r>
            <a:r>
              <a:rPr lang="en-IN" sz="2400" b="1" dirty="0">
                <a:solidFill>
                  <a:prstClr val="black"/>
                </a:solidFill>
                <a:latin typeface="Source Sans Pro SemiBold" panose="020B0603030403020204" pitchFamily="34" charset="0"/>
                <a:ea typeface="Source Sans Pro SemiBold" panose="020B0603030403020204" pitchFamily="34" charset="0"/>
              </a:rPr>
              <a:t> - </a:t>
            </a:r>
            <a:r>
              <a:rPr kumimoji="0" lang="en-IN" sz="2400" b="0" i="0" u="none" strike="noStrike" kern="1200" cap="none" spc="0" normalizeH="0" baseline="0" noProof="0" dirty="0">
                <a:ln>
                  <a:noFill/>
                </a:ln>
                <a:solidFill>
                  <a:prstClr val="black"/>
                </a:solidFill>
                <a:effectLst/>
                <a:uLnTx/>
                <a:uFillTx/>
                <a:latin typeface="Source Sans Pro" panose="020B0503030403020204" pitchFamily="34" charset="0"/>
                <a:ea typeface="Source Sans Pro" panose="020B0503030403020204" pitchFamily="34" charset="0"/>
                <a:cs typeface="+mn-cs"/>
              </a:rPr>
              <a:t>Enterprise Web &amp; Mobile UI Design (Freelance)</a:t>
            </a:r>
            <a:endParaRPr kumimoji="0" lang="en-US" sz="2400" b="0" i="0" u="none" strike="noStrike" kern="1200" cap="none" spc="0" normalizeH="0" baseline="0" noProof="0" dirty="0">
              <a:ln>
                <a:noFill/>
              </a:ln>
              <a:solidFill>
                <a:srgbClr val="1F1F1F"/>
              </a:solidFill>
              <a:effectLst/>
              <a:uLnTx/>
              <a:uFillTx/>
              <a:latin typeface="Source Sans Pro" panose="020B0503030403020204" pitchFamily="34" charset="0"/>
              <a:ea typeface="Source Sans Pro" panose="020B0503030403020204" pitchFamily="34" charset="0"/>
              <a:cs typeface="+mn-cs"/>
            </a:endParaRPr>
          </a:p>
        </p:txBody>
      </p:sp>
    </p:spTree>
    <p:extLst>
      <p:ext uri="{BB962C8B-B14F-4D97-AF65-F5344CB8AC3E}">
        <p14:creationId xmlns:p14="http://schemas.microsoft.com/office/powerpoint/2010/main" val="2438220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2B5A6-A792-005D-3297-32DB5DFCBCE8}"/>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56CE7033-0B40-2B9E-15EB-A8FDBFCE7F12}"/>
              </a:ext>
            </a:extLst>
          </p:cNvPr>
          <p:cNvPicPr>
            <a:picLocks noChangeAspect="1"/>
          </p:cNvPicPr>
          <p:nvPr/>
        </p:nvPicPr>
        <p:blipFill>
          <a:blip r:embed="rId2">
            <a:alphaModFix amt="35000"/>
          </a:blip>
          <a:srcRect/>
          <a:stretch/>
        </p:blipFill>
        <p:spPr>
          <a:xfrm>
            <a:off x="1" y="139"/>
            <a:ext cx="12192250" cy="6857861"/>
          </a:xfrm>
          <a:prstGeom prst="rect">
            <a:avLst/>
          </a:prstGeom>
        </p:spPr>
      </p:pic>
      <p:pic>
        <p:nvPicPr>
          <p:cNvPr id="11" name="Picture 10" descr="A blue and green letter j&#10;&#10;AI-generated content may be incorrect.">
            <a:extLst>
              <a:ext uri="{FF2B5EF4-FFF2-40B4-BE49-F238E27FC236}">
                <a16:creationId xmlns:a16="http://schemas.microsoft.com/office/drawing/2014/main" id="{A3361A2B-2C04-82D7-60FE-BAFA0AED8DD7}"/>
              </a:ext>
            </a:extLst>
          </p:cNvPr>
          <p:cNvPicPr>
            <a:picLocks noChangeAspect="1"/>
          </p:cNvPicPr>
          <p:nvPr/>
        </p:nvPicPr>
        <p:blipFill>
          <a:blip r:embed="rId3"/>
          <a:stretch>
            <a:fillRect/>
          </a:stretch>
        </p:blipFill>
        <p:spPr>
          <a:xfrm>
            <a:off x="464420" y="388307"/>
            <a:ext cx="430147" cy="430147"/>
          </a:xfrm>
          <a:prstGeom prst="rect">
            <a:avLst/>
          </a:prstGeom>
        </p:spPr>
      </p:pic>
      <p:sp>
        <p:nvSpPr>
          <p:cNvPr id="12" name="TextBox 11">
            <a:extLst>
              <a:ext uri="{FF2B5EF4-FFF2-40B4-BE49-F238E27FC236}">
                <a16:creationId xmlns:a16="http://schemas.microsoft.com/office/drawing/2014/main" id="{6FE29E39-5A5E-9F1A-14AA-ED060EE2777D}"/>
              </a:ext>
            </a:extLst>
          </p:cNvPr>
          <p:cNvSpPr txBox="1"/>
          <p:nvPr/>
        </p:nvSpPr>
        <p:spPr>
          <a:xfrm>
            <a:off x="1035485" y="948193"/>
            <a:ext cx="3204723" cy="584775"/>
          </a:xfrm>
          <a:prstGeom prst="rect">
            <a:avLst/>
          </a:prstGeom>
          <a:noFill/>
        </p:spPr>
        <p:txBody>
          <a:bodyPr wrap="none" rtlCol="0">
            <a:spAutoFit/>
          </a:bodyPr>
          <a:lstStyle/>
          <a:p>
            <a:r>
              <a:rPr lang="en-IN" sz="3200" dirty="0">
                <a:solidFill>
                  <a:srgbClr val="1F1F1F"/>
                </a:solidFill>
                <a:latin typeface="Source Sans Pro SemiBold" panose="020B0603030403020204" pitchFamily="34" charset="0"/>
                <a:ea typeface="Source Sans Pro SemiBold" panose="020B0603030403020204" pitchFamily="34" charset="0"/>
              </a:rPr>
              <a:t>Skills &amp; Expertise</a:t>
            </a:r>
            <a:endParaRPr lang="en-US" sz="3200" dirty="0">
              <a:solidFill>
                <a:srgbClr val="1F1F1F"/>
              </a:solidFill>
              <a:latin typeface="Source Sans Pro SemiBold" panose="020B0603030403020204" pitchFamily="34" charset="0"/>
              <a:ea typeface="Source Sans Pro SemiBold" panose="020B0603030403020204" pitchFamily="34" charset="0"/>
            </a:endParaRPr>
          </a:p>
        </p:txBody>
      </p:sp>
      <p:sp>
        <p:nvSpPr>
          <p:cNvPr id="13" name="TextBox 12">
            <a:extLst>
              <a:ext uri="{FF2B5EF4-FFF2-40B4-BE49-F238E27FC236}">
                <a16:creationId xmlns:a16="http://schemas.microsoft.com/office/drawing/2014/main" id="{B422E547-B5AB-2CDF-7EC8-E6CB0BBB3DAF}"/>
              </a:ext>
            </a:extLst>
          </p:cNvPr>
          <p:cNvSpPr txBox="1"/>
          <p:nvPr/>
        </p:nvSpPr>
        <p:spPr>
          <a:xfrm>
            <a:off x="1035485" y="1558020"/>
            <a:ext cx="5779146" cy="1762021"/>
          </a:xfrm>
          <a:prstGeom prst="rect">
            <a:avLst/>
          </a:prstGeom>
          <a:noFill/>
        </p:spPr>
        <p:txBody>
          <a:bodyPr wrap="none" rtlCol="0">
            <a:spAutoFit/>
          </a:bodyPr>
          <a:lstStyle/>
          <a:p>
            <a:pPr marL="136525" indent="-136525" eaLnBrk="0" fontAlgn="base" hangingPunct="0">
              <a:spcBef>
                <a:spcPct val="0"/>
              </a:spcBef>
              <a:spcAft>
                <a:spcPts val="300"/>
              </a:spcAft>
              <a:buFontTx/>
              <a:buChar char="•"/>
            </a:pPr>
            <a:r>
              <a:rPr lang="en-US" altLang="en-US" sz="1600" dirty="0">
                <a:latin typeface="Source Sans Pro" panose="020B0503030403020204" pitchFamily="34" charset="0"/>
                <a:ea typeface="Source Sans Pro" panose="020B0503030403020204" pitchFamily="34" charset="0"/>
              </a:rPr>
              <a:t>Design Leadership &amp; Brand Governance</a:t>
            </a:r>
          </a:p>
          <a:p>
            <a:pPr marL="136525" indent="-136525" eaLnBrk="0" fontAlgn="base" hangingPunct="0">
              <a:spcBef>
                <a:spcPct val="0"/>
              </a:spcBef>
              <a:spcAft>
                <a:spcPts val="300"/>
              </a:spcAft>
              <a:buFontTx/>
              <a:buChar char="•"/>
            </a:pPr>
            <a:r>
              <a:rPr lang="en-US" altLang="en-US" sz="1600" dirty="0">
                <a:latin typeface="Source Sans Pro" panose="020B0503030403020204" pitchFamily="34" charset="0"/>
                <a:ea typeface="Source Sans Pro" panose="020B0503030403020204" pitchFamily="34" charset="0"/>
              </a:rPr>
              <a:t>Visual &amp; UI Design (Web, Internal Platforms, Enterprise Systems)</a:t>
            </a:r>
          </a:p>
          <a:p>
            <a:pPr marL="136525" indent="-136525" eaLnBrk="0" fontAlgn="base" hangingPunct="0">
              <a:spcBef>
                <a:spcPct val="0"/>
              </a:spcBef>
              <a:spcAft>
                <a:spcPts val="300"/>
              </a:spcAft>
              <a:buFontTx/>
              <a:buChar char="•"/>
            </a:pPr>
            <a:r>
              <a:rPr lang="en-US" altLang="en-US" sz="1600" dirty="0">
                <a:latin typeface="Source Sans Pro" panose="020B0503030403020204" pitchFamily="34" charset="0"/>
                <a:ea typeface="Source Sans Pro" panose="020B0503030403020204" pitchFamily="34" charset="0"/>
              </a:rPr>
              <a:t>Marketing &amp; Communication Design</a:t>
            </a:r>
          </a:p>
          <a:p>
            <a:pPr marL="136525" indent="-136525" eaLnBrk="0" fontAlgn="base" hangingPunct="0">
              <a:spcBef>
                <a:spcPct val="0"/>
              </a:spcBef>
              <a:spcAft>
                <a:spcPts val="300"/>
              </a:spcAft>
              <a:buFontTx/>
              <a:buChar char="•"/>
            </a:pPr>
            <a:r>
              <a:rPr lang="en-US" altLang="en-US" sz="1600" dirty="0">
                <a:latin typeface="Source Sans Pro" panose="020B0503030403020204" pitchFamily="34" charset="0"/>
                <a:ea typeface="Source Sans Pro" panose="020B0503030403020204" pitchFamily="34" charset="0"/>
              </a:rPr>
              <a:t>Internal Platforms &amp; Employee Engagement</a:t>
            </a:r>
          </a:p>
          <a:p>
            <a:pPr marL="136525" indent="-136525" eaLnBrk="0" fontAlgn="base" hangingPunct="0">
              <a:spcBef>
                <a:spcPct val="0"/>
              </a:spcBef>
              <a:spcAft>
                <a:spcPts val="300"/>
              </a:spcAft>
              <a:buFontTx/>
              <a:buChar char="•"/>
            </a:pPr>
            <a:r>
              <a:rPr lang="en-US" altLang="en-US" sz="1600" dirty="0">
                <a:latin typeface="Source Sans Pro" panose="020B0503030403020204" pitchFamily="34" charset="0"/>
                <a:ea typeface="Source Sans Pro" panose="020B0503030403020204" pitchFamily="34" charset="0"/>
              </a:rPr>
              <a:t>Multilingual &amp; Large-Scale Brand Execution</a:t>
            </a:r>
          </a:p>
          <a:p>
            <a:pPr marL="136525" indent="-136525" eaLnBrk="0" fontAlgn="base" hangingPunct="0">
              <a:spcBef>
                <a:spcPct val="0"/>
              </a:spcBef>
              <a:spcAft>
                <a:spcPts val="300"/>
              </a:spcAft>
              <a:buFontTx/>
              <a:buChar char="•"/>
            </a:pPr>
            <a:r>
              <a:rPr lang="en-US" altLang="en-US" sz="1600" dirty="0">
                <a:latin typeface="Source Sans Pro" panose="020B0503030403020204" pitchFamily="34" charset="0"/>
                <a:ea typeface="Source Sans Pro" panose="020B0503030403020204" pitchFamily="34" charset="0"/>
              </a:rPr>
              <a:t>Agency, Stakeholder &amp; Cross-functional Collaboration</a:t>
            </a:r>
          </a:p>
        </p:txBody>
      </p:sp>
      <p:sp>
        <p:nvSpPr>
          <p:cNvPr id="3" name="TextBox 2">
            <a:extLst>
              <a:ext uri="{FF2B5EF4-FFF2-40B4-BE49-F238E27FC236}">
                <a16:creationId xmlns:a16="http://schemas.microsoft.com/office/drawing/2014/main" id="{1BC96FD8-61A9-5286-9E11-E49254DEB456}"/>
              </a:ext>
            </a:extLst>
          </p:cNvPr>
          <p:cNvSpPr txBox="1"/>
          <p:nvPr/>
        </p:nvSpPr>
        <p:spPr>
          <a:xfrm>
            <a:off x="1035485" y="3564430"/>
            <a:ext cx="1148071" cy="584775"/>
          </a:xfrm>
          <a:prstGeom prst="rect">
            <a:avLst/>
          </a:prstGeom>
          <a:noFill/>
        </p:spPr>
        <p:txBody>
          <a:bodyPr wrap="none" rtlCol="0">
            <a:spAutoFit/>
          </a:bodyPr>
          <a:lstStyle/>
          <a:p>
            <a:r>
              <a:rPr lang="en-IN" sz="3200" dirty="0">
                <a:solidFill>
                  <a:srgbClr val="1F1F1F"/>
                </a:solidFill>
                <a:latin typeface="Source Sans Pro SemiBold" panose="020B0603030403020204" pitchFamily="34" charset="0"/>
                <a:ea typeface="Source Sans Pro SemiBold" panose="020B0603030403020204" pitchFamily="34" charset="0"/>
              </a:rPr>
              <a:t>Tools</a:t>
            </a:r>
            <a:endParaRPr lang="en-US" sz="3200" dirty="0">
              <a:solidFill>
                <a:srgbClr val="1F1F1F"/>
              </a:solidFill>
              <a:latin typeface="Source Sans Pro SemiBold" panose="020B0603030403020204" pitchFamily="34" charset="0"/>
              <a:ea typeface="Source Sans Pro SemiBold" panose="020B0603030403020204" pitchFamily="34" charset="0"/>
            </a:endParaRPr>
          </a:p>
        </p:txBody>
      </p:sp>
      <p:sp>
        <p:nvSpPr>
          <p:cNvPr id="4" name="TextBox 3">
            <a:extLst>
              <a:ext uri="{FF2B5EF4-FFF2-40B4-BE49-F238E27FC236}">
                <a16:creationId xmlns:a16="http://schemas.microsoft.com/office/drawing/2014/main" id="{7BC97657-D6DC-74DB-E887-04B85394D1FE}"/>
              </a:ext>
            </a:extLst>
          </p:cNvPr>
          <p:cNvSpPr txBox="1"/>
          <p:nvPr/>
        </p:nvSpPr>
        <p:spPr>
          <a:xfrm>
            <a:off x="1035485" y="4124153"/>
            <a:ext cx="6605392" cy="1477328"/>
          </a:xfrm>
          <a:prstGeom prst="rect">
            <a:avLst/>
          </a:prstGeom>
          <a:noFill/>
        </p:spPr>
        <p:txBody>
          <a:bodyPr wrap="square" rtlCol="0">
            <a:spAutoFit/>
          </a:bodyPr>
          <a:lstStyle/>
          <a:p>
            <a:pPr marL="136525" indent="-136525" eaLnBrk="0" fontAlgn="base" hangingPunct="0">
              <a:spcBef>
                <a:spcPct val="0"/>
              </a:spcBef>
              <a:spcAft>
                <a:spcPts val="300"/>
              </a:spcAft>
              <a:buFontTx/>
              <a:buChar char="•"/>
            </a:pPr>
            <a:r>
              <a:rPr lang="en-US" altLang="en-US" sz="1600" dirty="0">
                <a:latin typeface="Source Sans Pro" panose="020B0503030403020204" pitchFamily="34" charset="0"/>
                <a:ea typeface="Source Sans Pro" panose="020B0503030403020204" pitchFamily="34" charset="0"/>
              </a:rPr>
              <a:t>Adobe Creative Cloud (Photoshop, Illustrator, InDesign, </a:t>
            </a:r>
            <a:r>
              <a:rPr lang="en-IN" sz="1600" dirty="0">
                <a:latin typeface="Source Sans Pro" panose="020B0503030403020204" pitchFamily="34" charset="0"/>
                <a:ea typeface="Source Sans Pro" panose="020B0503030403020204" pitchFamily="34" charset="0"/>
              </a:rPr>
              <a:t>Acrobat Pro </a:t>
            </a:r>
            <a:r>
              <a:rPr lang="en-US" altLang="en-US" sz="1600" dirty="0">
                <a:latin typeface="Source Sans Pro" panose="020B0503030403020204" pitchFamily="34" charset="0"/>
                <a:ea typeface="Source Sans Pro" panose="020B0503030403020204" pitchFamily="34" charset="0"/>
              </a:rPr>
              <a:t>)</a:t>
            </a:r>
          </a:p>
          <a:p>
            <a:pPr marL="136525" indent="-136525" eaLnBrk="0" fontAlgn="base" hangingPunct="0">
              <a:spcBef>
                <a:spcPct val="0"/>
              </a:spcBef>
              <a:spcAft>
                <a:spcPts val="300"/>
              </a:spcAft>
              <a:buFontTx/>
              <a:buChar char="•"/>
            </a:pPr>
            <a:r>
              <a:rPr lang="en-US" altLang="en-US" sz="1600" dirty="0">
                <a:latin typeface="Source Sans Pro" panose="020B0503030403020204" pitchFamily="34" charset="0"/>
                <a:ea typeface="Source Sans Pro" panose="020B0503030403020204" pitchFamily="34" charset="0"/>
              </a:rPr>
              <a:t>UI Design (Figma, </a:t>
            </a:r>
            <a:r>
              <a:rPr lang="en-IN" sz="1600" dirty="0">
                <a:latin typeface="Source Sans Pro" panose="020B0503030403020204" pitchFamily="34" charset="0"/>
                <a:ea typeface="Source Sans Pro" panose="020B0503030403020204" pitchFamily="34" charset="0"/>
              </a:rPr>
              <a:t>Adobe XD </a:t>
            </a:r>
            <a:endParaRPr lang="en-US" altLang="en-US" sz="1600" dirty="0">
              <a:latin typeface="Source Sans Pro" panose="020B0503030403020204" pitchFamily="34" charset="0"/>
              <a:ea typeface="Source Sans Pro" panose="020B0503030403020204" pitchFamily="34" charset="0"/>
            </a:endParaRPr>
          </a:p>
          <a:p>
            <a:pPr marL="136525" indent="-136525" eaLnBrk="0" fontAlgn="base" hangingPunct="0">
              <a:spcBef>
                <a:spcPct val="0"/>
              </a:spcBef>
              <a:spcAft>
                <a:spcPts val="300"/>
              </a:spcAft>
              <a:buFontTx/>
              <a:buChar char="•"/>
            </a:pPr>
            <a:r>
              <a:rPr lang="en-US" altLang="en-US" sz="1600" dirty="0">
                <a:latin typeface="Source Sans Pro" panose="020B0503030403020204" pitchFamily="34" charset="0"/>
                <a:ea typeface="Source Sans Pro" panose="020B0503030403020204" pitchFamily="34" charset="0"/>
              </a:rPr>
              <a:t>Presentation Design</a:t>
            </a:r>
          </a:p>
          <a:p>
            <a:pPr marL="136525" indent="-136525" eaLnBrk="0" fontAlgn="base" hangingPunct="0">
              <a:spcBef>
                <a:spcPct val="0"/>
              </a:spcBef>
              <a:spcAft>
                <a:spcPts val="300"/>
              </a:spcAft>
              <a:buFontTx/>
              <a:buChar char="•"/>
            </a:pPr>
            <a:r>
              <a:rPr lang="en-US" altLang="en-US" sz="1600" dirty="0">
                <a:latin typeface="Source Sans Pro" panose="020B0503030403020204" pitchFamily="34" charset="0"/>
                <a:ea typeface="Source Sans Pro" panose="020B0503030403020204" pitchFamily="34" charset="0"/>
              </a:rPr>
              <a:t>Video &amp; Motion (After Effects, Premiere Pro)</a:t>
            </a:r>
          </a:p>
          <a:p>
            <a:pPr marL="136525" indent="-136525" eaLnBrk="0" fontAlgn="base" hangingPunct="0">
              <a:spcBef>
                <a:spcPct val="0"/>
              </a:spcBef>
              <a:spcAft>
                <a:spcPts val="300"/>
              </a:spcAft>
              <a:buFontTx/>
              <a:buChar char="•"/>
            </a:pPr>
            <a:r>
              <a:rPr lang="en-IN" sz="1600" dirty="0">
                <a:latin typeface="Source Sans Pro" panose="020B0503030403020204" pitchFamily="34" charset="0"/>
                <a:ea typeface="Source Sans Pro" panose="020B0503030403020204" pitchFamily="34" charset="0"/>
              </a:rPr>
              <a:t>SharePoint Designer</a:t>
            </a:r>
            <a:endParaRPr lang="en-US" altLang="en-US" sz="1600" dirty="0">
              <a:latin typeface="Source Sans Pro" panose="020B0503030403020204" pitchFamily="34" charset="0"/>
              <a:ea typeface="Source Sans Pro" panose="020B0503030403020204" pitchFamily="34" charset="0"/>
            </a:endParaRPr>
          </a:p>
        </p:txBody>
      </p:sp>
      <p:sp>
        <p:nvSpPr>
          <p:cNvPr id="2" name="TextBox 1">
            <a:extLst>
              <a:ext uri="{FF2B5EF4-FFF2-40B4-BE49-F238E27FC236}">
                <a16:creationId xmlns:a16="http://schemas.microsoft.com/office/drawing/2014/main" id="{7EE88FBA-1580-3D9A-451A-D802B2397EA7}"/>
              </a:ext>
            </a:extLst>
          </p:cNvPr>
          <p:cNvSpPr txBox="1"/>
          <p:nvPr/>
        </p:nvSpPr>
        <p:spPr>
          <a:xfrm>
            <a:off x="1035484" y="5661103"/>
            <a:ext cx="9348593" cy="584775"/>
          </a:xfrm>
          <a:prstGeom prst="rect">
            <a:avLst/>
          </a:prstGeom>
          <a:noFill/>
        </p:spPr>
        <p:txBody>
          <a:bodyPr wrap="square" rtlCol="0">
            <a:spAutoFit/>
          </a:bodyPr>
          <a:lstStyle/>
          <a:p>
            <a:r>
              <a:rPr lang="en-IN" sz="1600" b="1" dirty="0">
                <a:latin typeface="Source Sans Pro SemiBold" panose="020B0603030403020204" pitchFamily="34" charset="0"/>
                <a:ea typeface="Source Sans Pro SemiBold" panose="020B0603030403020204" pitchFamily="34" charset="0"/>
              </a:rPr>
              <a:t>AI-assisted design tools: </a:t>
            </a:r>
            <a:r>
              <a:rPr lang="en-IN" sz="1600" dirty="0">
                <a:latin typeface="Source Sans Pro" panose="020B0503030403020204" pitchFamily="34" charset="0"/>
                <a:ea typeface="Source Sans Pro" panose="020B0503030403020204" pitchFamily="34" charset="0"/>
              </a:rPr>
              <a:t>ChatGPT, </a:t>
            </a:r>
            <a:r>
              <a:rPr lang="en-IN" sz="1600" dirty="0" err="1">
                <a:latin typeface="Source Sans Pro" panose="020B0503030403020204" pitchFamily="34" charset="0"/>
                <a:ea typeface="Source Sans Pro" panose="020B0503030403020204" pitchFamily="34" charset="0"/>
              </a:rPr>
              <a:t>Freepik</a:t>
            </a:r>
            <a:r>
              <a:rPr lang="en-IN" sz="1600" dirty="0">
                <a:latin typeface="Source Sans Pro" panose="020B0503030403020204" pitchFamily="34" charset="0"/>
                <a:ea typeface="Source Sans Pro" panose="020B0503030403020204" pitchFamily="34" charset="0"/>
              </a:rPr>
              <a:t> AI Gen, </a:t>
            </a:r>
            <a:r>
              <a:rPr lang="en-IN" sz="1600" dirty="0" err="1">
                <a:latin typeface="Source Sans Pro" panose="020B0503030403020204" pitchFamily="34" charset="0"/>
                <a:ea typeface="Source Sans Pro" panose="020B0503030403020204" pitchFamily="34" charset="0"/>
              </a:rPr>
              <a:t>Envato</a:t>
            </a:r>
            <a:r>
              <a:rPr lang="en-IN" sz="1600" dirty="0">
                <a:latin typeface="Source Sans Pro" panose="020B0503030403020204" pitchFamily="34" charset="0"/>
                <a:ea typeface="Source Sans Pro" panose="020B0503030403020204" pitchFamily="34" charset="0"/>
              </a:rPr>
              <a:t> Elements AI Gen; exposure to Figma AI with ongoing upskilling.</a:t>
            </a:r>
          </a:p>
        </p:txBody>
      </p:sp>
    </p:spTree>
    <p:extLst>
      <p:ext uri="{BB962C8B-B14F-4D97-AF65-F5344CB8AC3E}">
        <p14:creationId xmlns:p14="http://schemas.microsoft.com/office/powerpoint/2010/main" val="3663390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DFAED-5285-DDA8-C27E-6F097C3F1607}"/>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6E929F37-E6AC-4D8D-16BA-47E811858FE7}"/>
              </a:ext>
            </a:extLst>
          </p:cNvPr>
          <p:cNvPicPr>
            <a:picLocks noChangeAspect="1"/>
          </p:cNvPicPr>
          <p:nvPr/>
        </p:nvPicPr>
        <p:blipFill>
          <a:blip r:embed="rId2">
            <a:alphaModFix amt="35000"/>
          </a:blip>
          <a:srcRect/>
          <a:stretch/>
        </p:blipFill>
        <p:spPr>
          <a:xfrm>
            <a:off x="1" y="139"/>
            <a:ext cx="12192250" cy="6857861"/>
          </a:xfrm>
          <a:prstGeom prst="rect">
            <a:avLst/>
          </a:prstGeom>
        </p:spPr>
      </p:pic>
      <p:pic>
        <p:nvPicPr>
          <p:cNvPr id="11" name="Picture 10" descr="A blue and green letter j&#10;&#10;AI-generated content may be incorrect.">
            <a:extLst>
              <a:ext uri="{FF2B5EF4-FFF2-40B4-BE49-F238E27FC236}">
                <a16:creationId xmlns:a16="http://schemas.microsoft.com/office/drawing/2014/main" id="{1F0E73C2-CB5B-D615-E596-4BD58254A4D8}"/>
              </a:ext>
            </a:extLst>
          </p:cNvPr>
          <p:cNvPicPr>
            <a:picLocks noChangeAspect="1"/>
          </p:cNvPicPr>
          <p:nvPr/>
        </p:nvPicPr>
        <p:blipFill>
          <a:blip r:embed="rId3"/>
          <a:stretch>
            <a:fillRect/>
          </a:stretch>
        </p:blipFill>
        <p:spPr>
          <a:xfrm>
            <a:off x="464420" y="388307"/>
            <a:ext cx="430147" cy="430147"/>
          </a:xfrm>
          <a:prstGeom prst="rect">
            <a:avLst/>
          </a:prstGeom>
        </p:spPr>
      </p:pic>
      <p:grpSp>
        <p:nvGrpSpPr>
          <p:cNvPr id="18" name="Group 17">
            <a:extLst>
              <a:ext uri="{FF2B5EF4-FFF2-40B4-BE49-F238E27FC236}">
                <a16:creationId xmlns:a16="http://schemas.microsoft.com/office/drawing/2014/main" id="{B18E2A11-D007-46C7-923B-CE7780B63A21}"/>
              </a:ext>
            </a:extLst>
          </p:cNvPr>
          <p:cNvGrpSpPr/>
          <p:nvPr/>
        </p:nvGrpSpPr>
        <p:grpSpPr>
          <a:xfrm>
            <a:off x="4296426" y="1524390"/>
            <a:ext cx="5849678" cy="2004638"/>
            <a:chOff x="4296426" y="2217106"/>
            <a:chExt cx="5849678" cy="2004638"/>
          </a:xfrm>
        </p:grpSpPr>
        <p:sp>
          <p:nvSpPr>
            <p:cNvPr id="12" name="TextBox 11">
              <a:extLst>
                <a:ext uri="{FF2B5EF4-FFF2-40B4-BE49-F238E27FC236}">
                  <a16:creationId xmlns:a16="http://schemas.microsoft.com/office/drawing/2014/main" id="{6BDD5EC8-77D5-4DC5-E103-BB429C502714}"/>
                </a:ext>
              </a:extLst>
            </p:cNvPr>
            <p:cNvSpPr txBox="1"/>
            <p:nvPr/>
          </p:nvSpPr>
          <p:spPr>
            <a:xfrm>
              <a:off x="4296426" y="2217106"/>
              <a:ext cx="4349268" cy="584775"/>
            </a:xfrm>
            <a:prstGeom prst="rect">
              <a:avLst/>
            </a:prstGeom>
            <a:noFill/>
          </p:spPr>
          <p:txBody>
            <a:bodyPr wrap="none" rtlCol="0">
              <a:spAutoFit/>
            </a:bodyPr>
            <a:lstStyle/>
            <a:p>
              <a:r>
                <a:rPr lang="en-IN" sz="3200" dirty="0">
                  <a:solidFill>
                    <a:srgbClr val="1F1F1F"/>
                  </a:solidFill>
                  <a:latin typeface="Source Sans Pro SemiBold" panose="020B0603030403020204" pitchFamily="34" charset="0"/>
                  <a:ea typeface="Source Sans Pro SemiBold" panose="020B0603030403020204" pitchFamily="34" charset="0"/>
                </a:rPr>
                <a:t>Charles Jayaseelan (CJ)</a:t>
              </a:r>
              <a:endParaRPr lang="en-US" sz="3200" dirty="0">
                <a:solidFill>
                  <a:srgbClr val="1F1F1F"/>
                </a:solidFill>
                <a:latin typeface="Source Sans Pro SemiBold" panose="020B0603030403020204" pitchFamily="34" charset="0"/>
                <a:ea typeface="Source Sans Pro SemiBold" panose="020B0603030403020204" pitchFamily="34" charset="0"/>
              </a:endParaRPr>
            </a:p>
          </p:txBody>
        </p:sp>
        <p:sp>
          <p:nvSpPr>
            <p:cNvPr id="13" name="TextBox 12">
              <a:extLst>
                <a:ext uri="{FF2B5EF4-FFF2-40B4-BE49-F238E27FC236}">
                  <a16:creationId xmlns:a16="http://schemas.microsoft.com/office/drawing/2014/main" id="{C9A82BBC-ECE2-4115-AA02-11582833218E}"/>
                </a:ext>
              </a:extLst>
            </p:cNvPr>
            <p:cNvSpPr txBox="1"/>
            <p:nvPr/>
          </p:nvSpPr>
          <p:spPr>
            <a:xfrm>
              <a:off x="4296426" y="2889563"/>
              <a:ext cx="5849678" cy="369332"/>
            </a:xfrm>
            <a:prstGeom prst="rect">
              <a:avLst/>
            </a:prstGeom>
            <a:noFill/>
          </p:spPr>
          <p:txBody>
            <a:bodyPr wrap="none" rtlCol="0">
              <a:spAutoFit/>
            </a:bodyPr>
            <a:lstStyle/>
            <a:p>
              <a:r>
                <a:rPr lang="en-IN" dirty="0">
                  <a:solidFill>
                    <a:srgbClr val="1F1F1F"/>
                  </a:solidFill>
                  <a:latin typeface="Source Sans Pro" panose="020B0603030403020204" pitchFamily="34" charset="0"/>
                  <a:ea typeface="Source Sans Pro" panose="020B0603030403020204" pitchFamily="34" charset="0"/>
                </a:rPr>
                <a:t>Senior Visual / UI Designer |  Brand &amp; Visual Communication</a:t>
              </a:r>
            </a:p>
          </p:txBody>
        </p:sp>
        <p:sp>
          <p:nvSpPr>
            <p:cNvPr id="14" name="TextBox 13">
              <a:extLst>
                <a:ext uri="{FF2B5EF4-FFF2-40B4-BE49-F238E27FC236}">
                  <a16:creationId xmlns:a16="http://schemas.microsoft.com/office/drawing/2014/main" id="{A8405F4B-F157-DB7E-60C4-37417FD841DF}"/>
                </a:ext>
              </a:extLst>
            </p:cNvPr>
            <p:cNvSpPr txBox="1"/>
            <p:nvPr/>
          </p:nvSpPr>
          <p:spPr>
            <a:xfrm>
              <a:off x="4296426" y="3598496"/>
              <a:ext cx="5060515" cy="623248"/>
            </a:xfrm>
            <a:prstGeom prst="rect">
              <a:avLst/>
            </a:prstGeom>
            <a:noFill/>
          </p:spPr>
          <p:txBody>
            <a:bodyPr wrap="square" rtlCol="0">
              <a:spAutoFit/>
            </a:bodyPr>
            <a:lstStyle/>
            <a:p>
              <a:pPr marL="136525" lvl="0" indent="-136525" eaLnBrk="0" fontAlgn="base" hangingPunct="0">
                <a:spcBef>
                  <a:spcPct val="0"/>
                </a:spcBef>
                <a:spcAft>
                  <a:spcPts val="300"/>
                </a:spcAft>
                <a:buFontTx/>
                <a:buChar char="•"/>
              </a:pPr>
              <a:r>
                <a:rPr lang="en-US" altLang="en-US" sz="1600" dirty="0">
                  <a:solidFill>
                    <a:prstClr val="black"/>
                  </a:solidFill>
                  <a:latin typeface="Source Sans Pro" panose="020B0503030403020204" pitchFamily="34" charset="0"/>
                  <a:ea typeface="Source Sans Pro" panose="020B0503030403020204" pitchFamily="34" charset="0"/>
                </a:rPr>
                <a:t>Available for </a:t>
              </a:r>
              <a:r>
                <a:rPr lang="en-US" altLang="en-US" sz="1600" b="1" dirty="0">
                  <a:solidFill>
                    <a:prstClr val="black"/>
                  </a:solidFill>
                  <a:latin typeface="Source Sans Pro SemiBold" panose="020B0603030403020204" pitchFamily="34" charset="0"/>
                  <a:ea typeface="Source Sans Pro SemiBold" panose="020B0603030403020204" pitchFamily="34" charset="0"/>
                </a:rPr>
                <a:t>immediate joining</a:t>
              </a:r>
            </a:p>
            <a:p>
              <a:pPr marL="136525" lvl="0" indent="-136525" eaLnBrk="0" fontAlgn="base" hangingPunct="0">
                <a:spcBef>
                  <a:spcPct val="0"/>
                </a:spcBef>
                <a:spcAft>
                  <a:spcPts val="300"/>
                </a:spcAft>
                <a:buFontTx/>
                <a:buChar char="•"/>
              </a:pPr>
              <a:r>
                <a:rPr lang="en-US" altLang="en-US" sz="1600" dirty="0">
                  <a:solidFill>
                    <a:prstClr val="black"/>
                  </a:solidFill>
                  <a:latin typeface="Source Sans Pro" panose="020B0503030403020204" pitchFamily="34" charset="0"/>
                  <a:ea typeface="Source Sans Pro" panose="020B0503030403020204" pitchFamily="34" charset="0"/>
                </a:rPr>
                <a:t>Open to </a:t>
              </a:r>
              <a:r>
                <a:rPr lang="en-US" altLang="en-US" sz="1600" b="1" dirty="0">
                  <a:solidFill>
                    <a:prstClr val="black"/>
                  </a:solidFill>
                  <a:latin typeface="Source Sans Pro SemiBold" panose="020B0603030403020204" pitchFamily="34" charset="0"/>
                  <a:ea typeface="Source Sans Pro SemiBold" panose="020B0603030403020204" pitchFamily="34" charset="0"/>
                </a:rPr>
                <a:t>Netherlands &amp; Germany </a:t>
              </a:r>
              <a:r>
                <a:rPr lang="en-US" altLang="en-US" sz="1600" dirty="0">
                  <a:solidFill>
                    <a:prstClr val="black"/>
                  </a:solidFill>
                  <a:latin typeface="Source Sans Pro" panose="020B0503030403020204" pitchFamily="34" charset="0"/>
                  <a:ea typeface="Source Sans Pro" panose="020B0503030403020204" pitchFamily="34" charset="0"/>
                </a:rPr>
                <a:t>opportunities</a:t>
              </a:r>
            </a:p>
          </p:txBody>
        </p:sp>
      </p:grpSp>
      <p:sp>
        <p:nvSpPr>
          <p:cNvPr id="15" name="TextBox 14">
            <a:extLst>
              <a:ext uri="{FF2B5EF4-FFF2-40B4-BE49-F238E27FC236}">
                <a16:creationId xmlns:a16="http://schemas.microsoft.com/office/drawing/2014/main" id="{BAE9DD4E-E9FC-C2CB-38F5-97E50E9FE119}"/>
              </a:ext>
            </a:extLst>
          </p:cNvPr>
          <p:cNvSpPr txBox="1"/>
          <p:nvPr/>
        </p:nvSpPr>
        <p:spPr>
          <a:xfrm>
            <a:off x="4357981" y="3927259"/>
            <a:ext cx="2113079" cy="677108"/>
          </a:xfrm>
          <a:prstGeom prst="rect">
            <a:avLst/>
          </a:prstGeom>
          <a:noFill/>
        </p:spPr>
        <p:txBody>
          <a:bodyPr wrap="none" rtlCol="0">
            <a:spAutoFit/>
          </a:bodyPr>
          <a:lstStyle/>
          <a:p>
            <a:pPr>
              <a:spcAft>
                <a:spcPts val="1200"/>
              </a:spcAft>
            </a:pPr>
            <a:r>
              <a:rPr lang="en-IN" sz="1400" dirty="0">
                <a:solidFill>
                  <a:srgbClr val="1F1F1F"/>
                </a:solidFill>
                <a:latin typeface="Source Sans Pro" panose="020B0503030403020204" pitchFamily="34" charset="0"/>
                <a:ea typeface="Source Sans Pro" panose="020B0503030403020204" pitchFamily="34" charset="0"/>
              </a:rPr>
              <a:t>charlesja.ind@gmail.com</a:t>
            </a:r>
          </a:p>
          <a:p>
            <a:pPr>
              <a:spcAft>
                <a:spcPts val="1200"/>
              </a:spcAft>
            </a:pPr>
            <a:r>
              <a:rPr lang="en-IN" sz="1400" dirty="0" err="1">
                <a:solidFill>
                  <a:srgbClr val="1F1F1F"/>
                </a:solidFill>
                <a:latin typeface="Source Sans Pro" panose="020B0503030403020204" pitchFamily="34" charset="0"/>
                <a:ea typeface="Source Sans Pro" panose="020B0503030403020204" pitchFamily="34" charset="0"/>
              </a:rPr>
              <a:t>linkedin.com</a:t>
            </a:r>
            <a:r>
              <a:rPr lang="en-IN" sz="1400" dirty="0">
                <a:solidFill>
                  <a:srgbClr val="1F1F1F"/>
                </a:solidFill>
                <a:latin typeface="Source Sans Pro" panose="020B0503030403020204" pitchFamily="34" charset="0"/>
                <a:ea typeface="Source Sans Pro" panose="020B0503030403020204" pitchFamily="34" charset="0"/>
              </a:rPr>
              <a:t>/in/</a:t>
            </a:r>
            <a:r>
              <a:rPr lang="en-IN" sz="1400" dirty="0" err="1">
                <a:solidFill>
                  <a:srgbClr val="1F1F1F"/>
                </a:solidFill>
                <a:latin typeface="Source Sans Pro" panose="020B0503030403020204" pitchFamily="34" charset="0"/>
                <a:ea typeface="Source Sans Pro" panose="020B0503030403020204" pitchFamily="34" charset="0"/>
              </a:rPr>
              <a:t>charlesja</a:t>
            </a:r>
            <a:endParaRPr lang="en-IN" sz="1400" dirty="0">
              <a:solidFill>
                <a:srgbClr val="1F1F1F"/>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287188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14877</TotalTime>
  <Words>1783</Words>
  <Application>Microsoft Macintosh PowerPoint</Application>
  <PresentationFormat>Widescreen</PresentationFormat>
  <Paragraphs>169</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Aptos Display</vt:lpstr>
      <vt:lpstr>Arial</vt:lpstr>
      <vt:lpstr>Source Sans Pro</vt:lpstr>
      <vt:lpstr>Source Sans Pro Light</vt:lpstr>
      <vt:lpstr>Source Sans Pro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Charles Jayaseelan Antonysamy</dc:creator>
  <cp:lastModifiedBy>Charles Jayaseelan Antonysamy</cp:lastModifiedBy>
  <cp:revision>17</cp:revision>
  <dcterms:created xsi:type="dcterms:W3CDTF">2025-12-15T10:45:55Z</dcterms:created>
  <dcterms:modified xsi:type="dcterms:W3CDTF">2026-01-19T11:13:30Z</dcterms:modified>
</cp:coreProperties>
</file>